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30"/>
  </p:notesMasterIdLst>
  <p:sldIdLst>
    <p:sldId id="256" r:id="rId2"/>
    <p:sldId id="270" r:id="rId3"/>
    <p:sldId id="258" r:id="rId4"/>
    <p:sldId id="275" r:id="rId5"/>
    <p:sldId id="266" r:id="rId6"/>
    <p:sldId id="277" r:id="rId7"/>
    <p:sldId id="278" r:id="rId8"/>
    <p:sldId id="261" r:id="rId9"/>
    <p:sldId id="267" r:id="rId10"/>
    <p:sldId id="262" r:id="rId11"/>
    <p:sldId id="279" r:id="rId12"/>
    <p:sldId id="281" r:id="rId13"/>
    <p:sldId id="280" r:id="rId14"/>
    <p:sldId id="282" r:id="rId15"/>
    <p:sldId id="283" r:id="rId16"/>
    <p:sldId id="272" r:id="rId17"/>
    <p:sldId id="284" r:id="rId18"/>
    <p:sldId id="285" r:id="rId19"/>
    <p:sldId id="286" r:id="rId20"/>
    <p:sldId id="288" r:id="rId21"/>
    <p:sldId id="287" r:id="rId22"/>
    <p:sldId id="289" r:id="rId23"/>
    <p:sldId id="290" r:id="rId24"/>
    <p:sldId id="291" r:id="rId25"/>
    <p:sldId id="292" r:id="rId26"/>
    <p:sldId id="293" r:id="rId27"/>
    <p:sldId id="268" r:id="rId28"/>
    <p:sldId id="260" r:id="rId29"/>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4632" autoAdjust="0"/>
  </p:normalViewPr>
  <p:slideViewPr>
    <p:cSldViewPr>
      <p:cViewPr>
        <p:scale>
          <a:sx n="96" d="100"/>
          <a:sy n="96" d="100"/>
        </p:scale>
        <p:origin x="1220" y="28"/>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95C3B98D-AE76-648A-7D32-296979C352B2}"/>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CD36D7C5-00E7-187D-377C-A38B8E63B52D}"/>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8C03ECC8-DB9C-442A-24B8-15EF2D6404CB}"/>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8E4E5826-11CB-9D95-17AE-7683520A750F}"/>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0EA559CA-0B10-0D8F-4563-DEDC0AEE2220}"/>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FDF1FAE5-0D80-DE1B-4126-8F9084E0BDD4}"/>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FAA2AAB0-7204-465A-98DC-6C27656800C5}"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C09AA26C-B139-2272-E15E-351C4357DB0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EEC75DFB-2420-4FC8-826C-E64AE2377DB5}" type="slidenum">
              <a:rPr lang="en-IN" altLang="en-US" sz="1400" smtClean="0"/>
              <a:pPr fontAlgn="base">
                <a:spcBef>
                  <a:spcPct val="0"/>
                </a:spcBef>
                <a:spcAft>
                  <a:spcPct val="0"/>
                </a:spcAft>
              </a:pPr>
              <a:t>1</a:t>
            </a:fld>
            <a:endParaRPr lang="en-IN" altLang="en-US" sz="1400"/>
          </a:p>
        </p:txBody>
      </p:sp>
      <p:sp>
        <p:nvSpPr>
          <p:cNvPr id="9219" name="Rectangle 1">
            <a:extLst>
              <a:ext uri="{FF2B5EF4-FFF2-40B4-BE49-F238E27FC236}">
                <a16:creationId xmlns:a16="http://schemas.microsoft.com/office/drawing/2014/main" id="{8F286D45-6F0B-7D4F-473E-1D83BD42CEC1}"/>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953AD717-B02B-CF0E-25B3-F83E400CC0F5}"/>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6BB55096-1456-B530-2665-7935A896D7C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FF0FFC71-14BA-498E-BD61-B3A5B78325C3}" type="slidenum">
              <a:rPr lang="en-IN" altLang="en-US" sz="1400" smtClean="0"/>
              <a:pPr fontAlgn="base">
                <a:spcBef>
                  <a:spcPct val="0"/>
                </a:spcBef>
                <a:spcAft>
                  <a:spcPct val="0"/>
                </a:spcAft>
              </a:pPr>
              <a:t>2</a:t>
            </a:fld>
            <a:endParaRPr lang="en-IN" altLang="en-US" sz="1400"/>
          </a:p>
        </p:txBody>
      </p:sp>
      <p:sp>
        <p:nvSpPr>
          <p:cNvPr id="11267" name="Rectangle 1">
            <a:extLst>
              <a:ext uri="{FF2B5EF4-FFF2-40B4-BE49-F238E27FC236}">
                <a16:creationId xmlns:a16="http://schemas.microsoft.com/office/drawing/2014/main" id="{988B6942-07DD-D016-6086-A336BC549D40}"/>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7CDFF32F-E2CB-1BFE-59A9-0B7E3B16A61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E440A2B5-EA3C-63D6-0336-6F7D2D6F78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83AD412D-1ECF-4ABE-9126-62D5B533DDF0}" type="slidenum">
              <a:rPr lang="en-IN" altLang="en-US" sz="1400" smtClean="0"/>
              <a:pPr fontAlgn="base">
                <a:spcBef>
                  <a:spcPct val="0"/>
                </a:spcBef>
                <a:spcAft>
                  <a:spcPct val="0"/>
                </a:spcAft>
              </a:pPr>
              <a:t>3</a:t>
            </a:fld>
            <a:endParaRPr lang="en-IN" altLang="en-US" sz="1400"/>
          </a:p>
        </p:txBody>
      </p:sp>
      <p:sp>
        <p:nvSpPr>
          <p:cNvPr id="13315" name="Rectangle 1">
            <a:extLst>
              <a:ext uri="{FF2B5EF4-FFF2-40B4-BE49-F238E27FC236}">
                <a16:creationId xmlns:a16="http://schemas.microsoft.com/office/drawing/2014/main" id="{D382C2AE-F672-FB4B-C4DF-8CAB36DA9D9A}"/>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0F35EB01-47FB-1263-65DE-D798A42BE4D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F219571F-7BF3-049C-E5F5-70E3FC5CD0F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B7DA561C-0A69-4821-B74D-5D9A23478B26}" type="slidenum">
              <a:rPr lang="en-IN" altLang="en-US" sz="1400" smtClean="0"/>
              <a:pPr fontAlgn="base">
                <a:spcBef>
                  <a:spcPct val="0"/>
                </a:spcBef>
                <a:spcAft>
                  <a:spcPct val="0"/>
                </a:spcAft>
              </a:pPr>
              <a:t>5</a:t>
            </a:fld>
            <a:endParaRPr lang="en-IN" altLang="en-US" sz="1400"/>
          </a:p>
        </p:txBody>
      </p:sp>
      <p:sp>
        <p:nvSpPr>
          <p:cNvPr id="15363" name="Rectangle 1">
            <a:extLst>
              <a:ext uri="{FF2B5EF4-FFF2-40B4-BE49-F238E27FC236}">
                <a16:creationId xmlns:a16="http://schemas.microsoft.com/office/drawing/2014/main" id="{95E5C33E-AD23-D7AC-B06F-2C4F8DF7BFC5}"/>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a:extLst>
              <a:ext uri="{FF2B5EF4-FFF2-40B4-BE49-F238E27FC236}">
                <a16:creationId xmlns:a16="http://schemas.microsoft.com/office/drawing/2014/main" id="{D001F419-9A47-3A73-9B18-0632F885BEA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960D58A1-2F9C-C2FE-5242-4BFD8AF3A66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EA8F74B-50A9-40BA-92F5-640688FF8F43}" type="slidenum">
              <a:rPr lang="en-IN" altLang="en-US" sz="1400" smtClean="0"/>
              <a:pPr fontAlgn="base">
                <a:spcBef>
                  <a:spcPct val="0"/>
                </a:spcBef>
                <a:spcAft>
                  <a:spcPct val="0"/>
                </a:spcAft>
              </a:pPr>
              <a:t>8</a:t>
            </a:fld>
            <a:endParaRPr lang="en-IN" altLang="en-US" sz="1400"/>
          </a:p>
        </p:txBody>
      </p:sp>
      <p:sp>
        <p:nvSpPr>
          <p:cNvPr id="17411" name="Rectangle 1">
            <a:extLst>
              <a:ext uri="{FF2B5EF4-FFF2-40B4-BE49-F238E27FC236}">
                <a16:creationId xmlns:a16="http://schemas.microsoft.com/office/drawing/2014/main" id="{9690E4DB-2D80-1CA9-55C2-116F66B34BA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a:extLst>
              <a:ext uri="{FF2B5EF4-FFF2-40B4-BE49-F238E27FC236}">
                <a16:creationId xmlns:a16="http://schemas.microsoft.com/office/drawing/2014/main" id="{C2C9C639-5B18-DBD4-4781-A82DFD99582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BCA61A05-54B1-6700-255B-042B039440F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57C7647-E316-489C-81B9-7E00CF40BFB4}" type="slidenum">
              <a:rPr lang="en-IN" altLang="en-US" sz="1400" smtClean="0"/>
              <a:pPr fontAlgn="base">
                <a:spcBef>
                  <a:spcPct val="0"/>
                </a:spcBef>
                <a:spcAft>
                  <a:spcPct val="0"/>
                </a:spcAft>
              </a:pPr>
              <a:t>10</a:t>
            </a:fld>
            <a:endParaRPr lang="en-IN" altLang="en-US" sz="1400"/>
          </a:p>
        </p:txBody>
      </p:sp>
      <p:sp>
        <p:nvSpPr>
          <p:cNvPr id="20483" name="Rectangle 1">
            <a:extLst>
              <a:ext uri="{FF2B5EF4-FFF2-40B4-BE49-F238E27FC236}">
                <a16:creationId xmlns:a16="http://schemas.microsoft.com/office/drawing/2014/main" id="{AAD4815F-B49E-BDF4-4013-EB0A04BED540}"/>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930F62DC-2567-6E58-69C3-0E772F1DDB00}"/>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66390C-0E2F-7B04-C5B7-28DF20EC73F8}"/>
            </a:ext>
          </a:extLst>
        </p:cNvPr>
        <p:cNvGrpSpPr/>
        <p:nvPr/>
      </p:nvGrpSpPr>
      <p:grpSpPr>
        <a:xfrm>
          <a:off x="0" y="0"/>
          <a:ext cx="0" cy="0"/>
          <a:chOff x="0" y="0"/>
          <a:chExt cx="0" cy="0"/>
        </a:xfrm>
      </p:grpSpPr>
      <p:sp>
        <p:nvSpPr>
          <p:cNvPr id="20482" name="Rectangle 6">
            <a:extLst>
              <a:ext uri="{FF2B5EF4-FFF2-40B4-BE49-F238E27FC236}">
                <a16:creationId xmlns:a16="http://schemas.microsoft.com/office/drawing/2014/main" id="{2DF884ED-72EC-4D38-FED3-88AA92F599D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57C7647-E316-489C-81B9-7E00CF40BFB4}" type="slidenum">
              <a:rPr lang="en-IN" altLang="en-US" sz="1400" smtClean="0"/>
              <a:pPr fontAlgn="base">
                <a:spcBef>
                  <a:spcPct val="0"/>
                </a:spcBef>
                <a:spcAft>
                  <a:spcPct val="0"/>
                </a:spcAft>
              </a:pPr>
              <a:t>14</a:t>
            </a:fld>
            <a:endParaRPr lang="en-IN" altLang="en-US" sz="1400"/>
          </a:p>
        </p:txBody>
      </p:sp>
      <p:sp>
        <p:nvSpPr>
          <p:cNvPr id="20483" name="Rectangle 1">
            <a:extLst>
              <a:ext uri="{FF2B5EF4-FFF2-40B4-BE49-F238E27FC236}">
                <a16:creationId xmlns:a16="http://schemas.microsoft.com/office/drawing/2014/main" id="{3EDEE84F-E4F0-B436-1CA5-50C9AC960226}"/>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E3AA4D4E-C2DC-70C3-4E53-5C198B185A96}"/>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55360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a:extLst>
              <a:ext uri="{FF2B5EF4-FFF2-40B4-BE49-F238E27FC236}">
                <a16:creationId xmlns:a16="http://schemas.microsoft.com/office/drawing/2014/main" id="{F1845EE8-8F10-24B8-2E81-6E5318C7576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855263C3-4108-44C1-99E1-543042B813A6}" type="slidenum">
              <a:rPr lang="en-IN" altLang="en-US" sz="1400" smtClean="0"/>
              <a:pPr fontAlgn="base">
                <a:spcBef>
                  <a:spcPct val="0"/>
                </a:spcBef>
                <a:spcAft>
                  <a:spcPct val="0"/>
                </a:spcAft>
              </a:pPr>
              <a:t>16</a:t>
            </a:fld>
            <a:endParaRPr lang="en-IN" altLang="en-US" sz="1400"/>
          </a:p>
        </p:txBody>
      </p:sp>
      <p:sp>
        <p:nvSpPr>
          <p:cNvPr id="23555" name="Rectangle 1">
            <a:extLst>
              <a:ext uri="{FF2B5EF4-FFF2-40B4-BE49-F238E27FC236}">
                <a16:creationId xmlns:a16="http://schemas.microsoft.com/office/drawing/2014/main" id="{47A26201-5D05-9124-9648-5BC90F49276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A43670C3-C3DD-9CB4-3D23-0DCE312DC5CF}"/>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70D4A2-387A-81EC-B325-37856B3D5379}"/>
            </a:ext>
          </a:extLst>
        </p:cNvPr>
        <p:cNvGrpSpPr/>
        <p:nvPr/>
      </p:nvGrpSpPr>
      <p:grpSpPr>
        <a:xfrm>
          <a:off x="0" y="0"/>
          <a:ext cx="0" cy="0"/>
          <a:chOff x="0" y="0"/>
          <a:chExt cx="0" cy="0"/>
        </a:xfrm>
      </p:grpSpPr>
      <p:sp>
        <p:nvSpPr>
          <p:cNvPr id="20482" name="Rectangle 6">
            <a:extLst>
              <a:ext uri="{FF2B5EF4-FFF2-40B4-BE49-F238E27FC236}">
                <a16:creationId xmlns:a16="http://schemas.microsoft.com/office/drawing/2014/main" id="{84443AF3-D870-4744-7460-04D94291288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57C7647-E316-489C-81B9-7E00CF40BFB4}" type="slidenum">
              <a:rPr lang="en-IN" altLang="en-US" sz="1400" smtClean="0"/>
              <a:pPr fontAlgn="base">
                <a:spcBef>
                  <a:spcPct val="0"/>
                </a:spcBef>
                <a:spcAft>
                  <a:spcPct val="0"/>
                </a:spcAft>
              </a:pPr>
              <a:t>23</a:t>
            </a:fld>
            <a:endParaRPr lang="en-IN" altLang="en-US" sz="1400"/>
          </a:p>
        </p:txBody>
      </p:sp>
      <p:sp>
        <p:nvSpPr>
          <p:cNvPr id="20483" name="Rectangle 1">
            <a:extLst>
              <a:ext uri="{FF2B5EF4-FFF2-40B4-BE49-F238E27FC236}">
                <a16:creationId xmlns:a16="http://schemas.microsoft.com/office/drawing/2014/main" id="{DC23DC9A-A72E-D19A-8C99-8F7CDDB920B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BAFCBAB5-807C-0226-4445-8E841572B26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191423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39DC84-64AE-CA34-357C-55FB2C9FF4D9}"/>
            </a:ext>
          </a:extLst>
        </p:cNvPr>
        <p:cNvGrpSpPr/>
        <p:nvPr/>
      </p:nvGrpSpPr>
      <p:grpSpPr>
        <a:xfrm>
          <a:off x="0" y="0"/>
          <a:ext cx="0" cy="0"/>
          <a:chOff x="0" y="0"/>
          <a:chExt cx="0" cy="0"/>
        </a:xfrm>
      </p:grpSpPr>
      <p:sp>
        <p:nvSpPr>
          <p:cNvPr id="20482" name="Rectangle 6">
            <a:extLst>
              <a:ext uri="{FF2B5EF4-FFF2-40B4-BE49-F238E27FC236}">
                <a16:creationId xmlns:a16="http://schemas.microsoft.com/office/drawing/2014/main" id="{AFAAED14-238C-537E-52E0-229068E7507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57C7647-E316-489C-81B9-7E00CF40BFB4}" type="slidenum">
              <a:rPr lang="en-IN" altLang="en-US" sz="1400" smtClean="0"/>
              <a:pPr fontAlgn="base">
                <a:spcBef>
                  <a:spcPct val="0"/>
                </a:spcBef>
                <a:spcAft>
                  <a:spcPct val="0"/>
                </a:spcAft>
              </a:pPr>
              <a:t>25</a:t>
            </a:fld>
            <a:endParaRPr lang="en-IN" altLang="en-US" sz="1400"/>
          </a:p>
        </p:txBody>
      </p:sp>
      <p:sp>
        <p:nvSpPr>
          <p:cNvPr id="20483" name="Rectangle 1">
            <a:extLst>
              <a:ext uri="{FF2B5EF4-FFF2-40B4-BE49-F238E27FC236}">
                <a16:creationId xmlns:a16="http://schemas.microsoft.com/office/drawing/2014/main" id="{D06FF7C6-A1BD-F127-4B2F-59C14C79A20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29C6ECC7-B7B9-DAF2-4D76-23C96699F2A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538055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6">
            <a:extLst>
              <a:ext uri="{FF2B5EF4-FFF2-40B4-BE49-F238E27FC236}">
                <a16:creationId xmlns:a16="http://schemas.microsoft.com/office/drawing/2014/main" id="{112877E8-CD1D-02F4-65C1-042029AAED0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E340E6A5-21E6-4519-9DF6-AC02FF4C1F5C}" type="slidenum">
              <a:rPr lang="en-IN" altLang="en-US" sz="1400" smtClean="0"/>
              <a:pPr fontAlgn="base">
                <a:spcBef>
                  <a:spcPct val="0"/>
                </a:spcBef>
                <a:spcAft>
                  <a:spcPct val="0"/>
                </a:spcAft>
              </a:pPr>
              <a:t>27</a:t>
            </a:fld>
            <a:endParaRPr lang="en-IN" altLang="en-US" sz="1400"/>
          </a:p>
        </p:txBody>
      </p:sp>
      <p:sp>
        <p:nvSpPr>
          <p:cNvPr id="29699" name="Rectangle 1">
            <a:extLst>
              <a:ext uri="{FF2B5EF4-FFF2-40B4-BE49-F238E27FC236}">
                <a16:creationId xmlns:a16="http://schemas.microsoft.com/office/drawing/2014/main" id="{14895DCA-23A2-C785-D0DC-C6E1DACCED4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700" name="Rectangle 2">
            <a:extLst>
              <a:ext uri="{FF2B5EF4-FFF2-40B4-BE49-F238E27FC236}">
                <a16:creationId xmlns:a16="http://schemas.microsoft.com/office/drawing/2014/main" id="{22D9B87A-EF6F-302E-47BD-5E6F22B34DC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a:extLst>
              <a:ext uri="{FF2B5EF4-FFF2-40B4-BE49-F238E27FC236}">
                <a16:creationId xmlns:a16="http://schemas.microsoft.com/office/drawing/2014/main" id="{9D9650B6-1CC0-98F8-A1C3-6A41B308703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021ECD5-DF41-455E-88CE-7C6F81498DA3}" type="slidenum">
              <a:rPr lang="en-IN" altLang="en-US" sz="1400" smtClean="0"/>
              <a:pPr fontAlgn="base">
                <a:spcBef>
                  <a:spcPct val="0"/>
                </a:spcBef>
                <a:spcAft>
                  <a:spcPct val="0"/>
                </a:spcAft>
              </a:pPr>
              <a:t>28</a:t>
            </a:fld>
            <a:endParaRPr lang="en-IN" altLang="en-US" sz="1400"/>
          </a:p>
        </p:txBody>
      </p:sp>
      <p:sp>
        <p:nvSpPr>
          <p:cNvPr id="31747" name="Rectangle 1">
            <a:extLst>
              <a:ext uri="{FF2B5EF4-FFF2-40B4-BE49-F238E27FC236}">
                <a16:creationId xmlns:a16="http://schemas.microsoft.com/office/drawing/2014/main" id="{02C05424-7C98-A19A-185D-C359C424D8C0}"/>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a:extLst>
              <a:ext uri="{FF2B5EF4-FFF2-40B4-BE49-F238E27FC236}">
                <a16:creationId xmlns:a16="http://schemas.microsoft.com/office/drawing/2014/main" id="{AF8531E9-965B-2932-6173-CE75E575930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EDD27315-6EB4-CEAA-FD78-0271784A346E}"/>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C6590D3B-73F6-EC4B-0E84-9384774FC8E2}"/>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8F801F51-8E53-79C4-0A00-8529495DC2EE}"/>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142A56C3-9F3E-5D6B-368F-352EB2635537}"/>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60763DC7-2781-3AC8-05B1-9BDF05BA6ADC}"/>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B4BBE113-7D69-322F-DDB4-0E8206CE4E6C}"/>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EF57307D-ABD9-FB8E-86B6-39572E0E205E}"/>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10BCB73A-E03D-5730-8CE5-A147CC67B720}"/>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A03D86DF-3703-1A67-7F34-7D2B9B13F4AC}"/>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27BD7863-1F8B-270F-D6C1-9E01D6EB9758}"/>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6BAD9927-EE44-EDD6-F681-316A670DA24D}"/>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8514BA2B-00FB-0681-A651-840B35157307}"/>
              </a:ext>
            </a:extLst>
          </p:cNvPr>
          <p:cNvSpPr>
            <a:spLocks noGrp="1"/>
          </p:cNvSpPr>
          <p:nvPr>
            <p:ph type="dt" sz="half" idx="10"/>
          </p:nvPr>
        </p:nvSpPr>
        <p:spPr/>
        <p:txBody>
          <a:bodyPr/>
          <a:lstStyle>
            <a:lvl1pPr>
              <a:defRPr/>
            </a:lvl1pPr>
          </a:lstStyle>
          <a:p>
            <a:pPr>
              <a:defRPr/>
            </a:pPr>
            <a:fld id="{1F330169-DA0D-4F05-86FB-1A4D8BE9DE57}" type="datetimeFigureOut">
              <a:rPr lang="en-US"/>
              <a:pPr>
                <a:defRPr/>
              </a:pPr>
              <a:t>2/13/2026</a:t>
            </a:fld>
            <a:endParaRPr lang="en-US" dirty="0"/>
          </a:p>
        </p:txBody>
      </p:sp>
      <p:sp>
        <p:nvSpPr>
          <p:cNvPr id="16" name="Footer Placeholder 4">
            <a:extLst>
              <a:ext uri="{FF2B5EF4-FFF2-40B4-BE49-F238E27FC236}">
                <a16:creationId xmlns:a16="http://schemas.microsoft.com/office/drawing/2014/main" id="{C623DBA1-0CA6-98AE-9FE3-D16165E06F8D}"/>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1B0F699F-1D04-A6AF-E027-A67BE97E3829}"/>
              </a:ext>
            </a:extLst>
          </p:cNvPr>
          <p:cNvSpPr>
            <a:spLocks noGrp="1"/>
          </p:cNvSpPr>
          <p:nvPr>
            <p:ph type="sldNum" sz="quarter" idx="12"/>
          </p:nvPr>
        </p:nvSpPr>
        <p:spPr/>
        <p:txBody>
          <a:bodyPr/>
          <a:lstStyle>
            <a:lvl1pPr>
              <a:defRPr/>
            </a:lvl1pPr>
          </a:lstStyle>
          <a:p>
            <a:pPr>
              <a:defRPr/>
            </a:pPr>
            <a:fld id="{98205623-BFD0-44AD-9795-8AB8C5FF58D4}" type="slidenum">
              <a:rPr lang="en-US"/>
              <a:pPr>
                <a:defRPr/>
              </a:pPr>
              <a:t>‹#›</a:t>
            </a:fld>
            <a:endParaRPr lang="en-US" dirty="0"/>
          </a:p>
        </p:txBody>
      </p:sp>
    </p:spTree>
    <p:extLst>
      <p:ext uri="{BB962C8B-B14F-4D97-AF65-F5344CB8AC3E}">
        <p14:creationId xmlns:p14="http://schemas.microsoft.com/office/powerpoint/2010/main" val="3324656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4DC7802-78A6-B0EF-0772-058EEE9C0729}"/>
              </a:ext>
            </a:extLst>
          </p:cNvPr>
          <p:cNvSpPr>
            <a:spLocks noGrp="1"/>
          </p:cNvSpPr>
          <p:nvPr>
            <p:ph type="dt" sz="half" idx="10"/>
          </p:nvPr>
        </p:nvSpPr>
        <p:spPr/>
        <p:txBody>
          <a:bodyPr/>
          <a:lstStyle>
            <a:lvl1pPr>
              <a:defRPr/>
            </a:lvl1pPr>
          </a:lstStyle>
          <a:p>
            <a:pPr>
              <a:defRPr/>
            </a:pPr>
            <a:fld id="{371413E5-3DFB-450B-BFD8-0FDAC7F6AD79}"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302638DF-1F9A-F9DF-15FE-BBB74DA1C40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DBD8B0-9789-0AC5-28A9-ACD9008CE9D4}"/>
              </a:ext>
            </a:extLst>
          </p:cNvPr>
          <p:cNvSpPr>
            <a:spLocks noGrp="1"/>
          </p:cNvSpPr>
          <p:nvPr>
            <p:ph type="sldNum" sz="quarter" idx="12"/>
          </p:nvPr>
        </p:nvSpPr>
        <p:spPr/>
        <p:txBody>
          <a:bodyPr/>
          <a:lstStyle>
            <a:lvl1pPr>
              <a:defRPr/>
            </a:lvl1pPr>
          </a:lstStyle>
          <a:p>
            <a:pPr>
              <a:defRPr/>
            </a:pPr>
            <a:fld id="{87CD4BAB-3F07-4EFF-82B0-A0D08A640816}" type="slidenum">
              <a:rPr lang="en-US"/>
              <a:pPr>
                <a:defRPr/>
              </a:pPr>
              <a:t>‹#›</a:t>
            </a:fld>
            <a:endParaRPr lang="en-US" dirty="0"/>
          </a:p>
        </p:txBody>
      </p:sp>
    </p:spTree>
    <p:extLst>
      <p:ext uri="{BB962C8B-B14F-4D97-AF65-F5344CB8AC3E}">
        <p14:creationId xmlns:p14="http://schemas.microsoft.com/office/powerpoint/2010/main" val="2693875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2ADC08-7D2E-2976-9F6C-DC2A17D68252}"/>
              </a:ext>
            </a:extLst>
          </p:cNvPr>
          <p:cNvSpPr>
            <a:spLocks noGrp="1"/>
          </p:cNvSpPr>
          <p:nvPr>
            <p:ph type="dt" sz="half" idx="10"/>
          </p:nvPr>
        </p:nvSpPr>
        <p:spPr/>
        <p:txBody>
          <a:bodyPr/>
          <a:lstStyle>
            <a:lvl1pPr>
              <a:defRPr/>
            </a:lvl1pPr>
          </a:lstStyle>
          <a:p>
            <a:pPr>
              <a:defRPr/>
            </a:pPr>
            <a:fld id="{46DF59E8-AFF8-496B-82F9-3FA1980F1465}"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537246EC-A48A-C542-3386-824DF2368EC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544071-CF8C-49FD-9C6E-0366BBDA4300}"/>
              </a:ext>
            </a:extLst>
          </p:cNvPr>
          <p:cNvSpPr>
            <a:spLocks noGrp="1"/>
          </p:cNvSpPr>
          <p:nvPr>
            <p:ph type="sldNum" sz="quarter" idx="12"/>
          </p:nvPr>
        </p:nvSpPr>
        <p:spPr/>
        <p:txBody>
          <a:bodyPr/>
          <a:lstStyle>
            <a:lvl1pPr>
              <a:defRPr/>
            </a:lvl1pPr>
          </a:lstStyle>
          <a:p>
            <a:pPr>
              <a:defRPr/>
            </a:pPr>
            <a:fld id="{5EC31FD3-200D-4D93-BD21-3AD5FF5C133D}" type="slidenum">
              <a:rPr lang="en-US"/>
              <a:pPr>
                <a:defRPr/>
              </a:pPr>
              <a:t>‹#›</a:t>
            </a:fld>
            <a:endParaRPr lang="en-US" dirty="0"/>
          </a:p>
        </p:txBody>
      </p:sp>
    </p:spTree>
    <p:extLst>
      <p:ext uri="{BB962C8B-B14F-4D97-AF65-F5344CB8AC3E}">
        <p14:creationId xmlns:p14="http://schemas.microsoft.com/office/powerpoint/2010/main" val="1614047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AE46235-E8D3-B202-D42A-7799695F763C}"/>
              </a:ext>
            </a:extLst>
          </p:cNvPr>
          <p:cNvSpPr>
            <a:spLocks noGrp="1"/>
          </p:cNvSpPr>
          <p:nvPr>
            <p:ph type="dt" sz="half" idx="10"/>
          </p:nvPr>
        </p:nvSpPr>
        <p:spPr/>
        <p:txBody>
          <a:bodyPr/>
          <a:lstStyle>
            <a:lvl1pPr>
              <a:defRPr/>
            </a:lvl1pPr>
          </a:lstStyle>
          <a:p>
            <a:pPr>
              <a:defRPr/>
            </a:pPr>
            <a:fld id="{3D135FD7-4586-4500-B5BA-3AF3F7B64D2B}"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72A1C9E2-04C8-A462-01BC-D187991E50C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1899F55-B1CA-7B99-360E-76D3C5022234}"/>
              </a:ext>
            </a:extLst>
          </p:cNvPr>
          <p:cNvSpPr>
            <a:spLocks noGrp="1"/>
          </p:cNvSpPr>
          <p:nvPr>
            <p:ph type="sldNum" sz="quarter" idx="12"/>
          </p:nvPr>
        </p:nvSpPr>
        <p:spPr/>
        <p:txBody>
          <a:bodyPr/>
          <a:lstStyle>
            <a:lvl1pPr>
              <a:defRPr/>
            </a:lvl1pPr>
          </a:lstStyle>
          <a:p>
            <a:pPr>
              <a:defRPr/>
            </a:pPr>
            <a:fld id="{DBDE02B3-4803-4F1C-8D88-335B2E7E8311}" type="slidenum">
              <a:rPr lang="en-US"/>
              <a:pPr>
                <a:defRPr/>
              </a:pPr>
              <a:t>‹#›</a:t>
            </a:fld>
            <a:endParaRPr lang="en-US" dirty="0"/>
          </a:p>
        </p:txBody>
      </p:sp>
    </p:spTree>
    <p:extLst>
      <p:ext uri="{BB962C8B-B14F-4D97-AF65-F5344CB8AC3E}">
        <p14:creationId xmlns:p14="http://schemas.microsoft.com/office/powerpoint/2010/main" val="24930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CAA2D99F-C373-F749-992A-D03270F1AA80}"/>
              </a:ext>
            </a:extLst>
          </p:cNvPr>
          <p:cNvSpPr>
            <a:spLocks noGrp="1"/>
          </p:cNvSpPr>
          <p:nvPr>
            <p:ph type="dt" sz="half" idx="10"/>
          </p:nvPr>
        </p:nvSpPr>
        <p:spPr/>
        <p:txBody>
          <a:bodyPr/>
          <a:lstStyle>
            <a:lvl1pPr>
              <a:defRPr/>
            </a:lvl1pPr>
          </a:lstStyle>
          <a:p>
            <a:pPr>
              <a:defRPr/>
            </a:pPr>
            <a:fld id="{6E37E491-5B14-40DC-8615-B5F27AAB2986}" type="datetimeFigureOut">
              <a:rPr lang="en-US"/>
              <a:pPr>
                <a:defRPr/>
              </a:pPr>
              <a:t>2/13/2026</a:t>
            </a:fld>
            <a:endParaRPr lang="en-US" dirty="0"/>
          </a:p>
        </p:txBody>
      </p:sp>
      <p:sp>
        <p:nvSpPr>
          <p:cNvPr id="8" name="Footer Placeholder 4">
            <a:extLst>
              <a:ext uri="{FF2B5EF4-FFF2-40B4-BE49-F238E27FC236}">
                <a16:creationId xmlns:a16="http://schemas.microsoft.com/office/drawing/2014/main" id="{00FA3D13-3344-805D-8C38-D551B99C992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074AFBB-A3B1-B9F4-3E3A-47DCAE0EF954}"/>
              </a:ext>
            </a:extLst>
          </p:cNvPr>
          <p:cNvSpPr>
            <a:spLocks noGrp="1"/>
          </p:cNvSpPr>
          <p:nvPr>
            <p:ph type="sldNum" sz="quarter" idx="12"/>
          </p:nvPr>
        </p:nvSpPr>
        <p:spPr/>
        <p:txBody>
          <a:bodyPr/>
          <a:lstStyle>
            <a:lvl1pPr>
              <a:defRPr/>
            </a:lvl1pPr>
          </a:lstStyle>
          <a:p>
            <a:pPr>
              <a:defRPr/>
            </a:pPr>
            <a:fld id="{FE108609-5AA4-42EA-9546-2E35D3425140}" type="slidenum">
              <a:rPr lang="en-US"/>
              <a:pPr>
                <a:defRPr/>
              </a:pPr>
              <a:t>‹#›</a:t>
            </a:fld>
            <a:endParaRPr lang="en-US" dirty="0"/>
          </a:p>
        </p:txBody>
      </p:sp>
    </p:spTree>
    <p:extLst>
      <p:ext uri="{BB962C8B-B14F-4D97-AF65-F5344CB8AC3E}">
        <p14:creationId xmlns:p14="http://schemas.microsoft.com/office/powerpoint/2010/main" val="2300292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14910EFA-5E39-1D12-86A4-3BA9F3576C1C}"/>
              </a:ext>
            </a:extLst>
          </p:cNvPr>
          <p:cNvSpPr>
            <a:spLocks noGrp="1"/>
          </p:cNvSpPr>
          <p:nvPr>
            <p:ph type="dt" sz="half" idx="10"/>
          </p:nvPr>
        </p:nvSpPr>
        <p:spPr/>
        <p:txBody>
          <a:bodyPr/>
          <a:lstStyle>
            <a:lvl1pPr>
              <a:defRPr/>
            </a:lvl1pPr>
          </a:lstStyle>
          <a:p>
            <a:pPr>
              <a:defRPr/>
            </a:pPr>
            <a:fld id="{DE1C67D3-3410-4C30-8DA0-3576C5FF87EA}" type="datetimeFigureOut">
              <a:rPr lang="en-US"/>
              <a:pPr>
                <a:defRPr/>
              </a:pPr>
              <a:t>2/13/2026</a:t>
            </a:fld>
            <a:endParaRPr lang="en-US" dirty="0"/>
          </a:p>
        </p:txBody>
      </p:sp>
      <p:sp>
        <p:nvSpPr>
          <p:cNvPr id="4" name="Footer Placeholder 4">
            <a:extLst>
              <a:ext uri="{FF2B5EF4-FFF2-40B4-BE49-F238E27FC236}">
                <a16:creationId xmlns:a16="http://schemas.microsoft.com/office/drawing/2014/main" id="{91C90DC4-A1CD-8DDC-770E-749D8991AF4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5ECBC59-0C7F-36F9-5441-D760F17C24EC}"/>
              </a:ext>
            </a:extLst>
          </p:cNvPr>
          <p:cNvSpPr>
            <a:spLocks noGrp="1"/>
          </p:cNvSpPr>
          <p:nvPr>
            <p:ph type="sldNum" sz="quarter" idx="12"/>
          </p:nvPr>
        </p:nvSpPr>
        <p:spPr/>
        <p:txBody>
          <a:bodyPr/>
          <a:lstStyle>
            <a:lvl1pPr>
              <a:defRPr/>
            </a:lvl1pPr>
          </a:lstStyle>
          <a:p>
            <a:pPr>
              <a:defRPr/>
            </a:pPr>
            <a:fld id="{4DE3DFE0-5B2A-4051-B5D6-13D911244CCF}" type="slidenum">
              <a:rPr lang="en-US"/>
              <a:pPr>
                <a:defRPr/>
              </a:pPr>
              <a:t>‹#›</a:t>
            </a:fld>
            <a:endParaRPr lang="en-US" dirty="0"/>
          </a:p>
        </p:txBody>
      </p:sp>
    </p:spTree>
    <p:extLst>
      <p:ext uri="{BB962C8B-B14F-4D97-AF65-F5344CB8AC3E}">
        <p14:creationId xmlns:p14="http://schemas.microsoft.com/office/powerpoint/2010/main" val="2257825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6A258A0-7465-E0AE-54F0-708EE7924812}"/>
              </a:ext>
            </a:extLst>
          </p:cNvPr>
          <p:cNvSpPr>
            <a:spLocks noGrp="1"/>
          </p:cNvSpPr>
          <p:nvPr>
            <p:ph type="dt" sz="half" idx="10"/>
          </p:nvPr>
        </p:nvSpPr>
        <p:spPr/>
        <p:txBody>
          <a:bodyPr/>
          <a:lstStyle>
            <a:lvl1pPr>
              <a:defRPr/>
            </a:lvl1pPr>
          </a:lstStyle>
          <a:p>
            <a:pPr>
              <a:defRPr/>
            </a:pPr>
            <a:fld id="{C542755D-E33C-4B52-99C8-0379227443A3}" type="datetimeFigureOut">
              <a:rPr lang="en-US"/>
              <a:pPr>
                <a:defRPr/>
              </a:pPr>
              <a:t>2/13/2026</a:t>
            </a:fld>
            <a:endParaRPr lang="en-US" dirty="0"/>
          </a:p>
        </p:txBody>
      </p:sp>
      <p:sp>
        <p:nvSpPr>
          <p:cNvPr id="3" name="Footer Placeholder 4">
            <a:extLst>
              <a:ext uri="{FF2B5EF4-FFF2-40B4-BE49-F238E27FC236}">
                <a16:creationId xmlns:a16="http://schemas.microsoft.com/office/drawing/2014/main" id="{A020A557-14B4-A8A0-1274-8D6D9B3A7DA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C14B82E-97B3-AB08-CAD1-86B449DA0CB1}"/>
              </a:ext>
            </a:extLst>
          </p:cNvPr>
          <p:cNvSpPr>
            <a:spLocks noGrp="1"/>
          </p:cNvSpPr>
          <p:nvPr>
            <p:ph type="sldNum" sz="quarter" idx="12"/>
          </p:nvPr>
        </p:nvSpPr>
        <p:spPr/>
        <p:txBody>
          <a:bodyPr/>
          <a:lstStyle>
            <a:lvl1pPr>
              <a:defRPr/>
            </a:lvl1pPr>
          </a:lstStyle>
          <a:p>
            <a:pPr>
              <a:defRPr/>
            </a:pPr>
            <a:fld id="{3624495D-3E87-4C03-B5E5-113A498B2E5B}" type="slidenum">
              <a:rPr lang="en-US"/>
              <a:pPr>
                <a:defRPr/>
              </a:pPr>
              <a:t>‹#›</a:t>
            </a:fld>
            <a:endParaRPr lang="en-US" dirty="0"/>
          </a:p>
        </p:txBody>
      </p:sp>
    </p:spTree>
    <p:extLst>
      <p:ext uri="{BB962C8B-B14F-4D97-AF65-F5344CB8AC3E}">
        <p14:creationId xmlns:p14="http://schemas.microsoft.com/office/powerpoint/2010/main" val="199327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F98F017B-9B8D-0778-D1FC-FE72A71A2EA9}"/>
              </a:ext>
            </a:extLst>
          </p:cNvPr>
          <p:cNvSpPr>
            <a:spLocks noGrp="1"/>
          </p:cNvSpPr>
          <p:nvPr>
            <p:ph type="dt" sz="half" idx="10"/>
          </p:nvPr>
        </p:nvSpPr>
        <p:spPr/>
        <p:txBody>
          <a:bodyPr/>
          <a:lstStyle>
            <a:lvl1pPr>
              <a:defRPr/>
            </a:lvl1pPr>
          </a:lstStyle>
          <a:p>
            <a:pPr>
              <a:defRPr/>
            </a:pPr>
            <a:fld id="{D3CA574B-C51A-425E-B43B-D3338170E3E6}"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D6C104CC-C429-B056-1C8A-D4C5E07AAAD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617338C-025B-F650-6F9D-4CE57DFF174D}"/>
              </a:ext>
            </a:extLst>
          </p:cNvPr>
          <p:cNvSpPr>
            <a:spLocks noGrp="1"/>
          </p:cNvSpPr>
          <p:nvPr>
            <p:ph type="sldNum" sz="quarter" idx="12"/>
          </p:nvPr>
        </p:nvSpPr>
        <p:spPr/>
        <p:txBody>
          <a:bodyPr/>
          <a:lstStyle>
            <a:lvl1pPr>
              <a:defRPr/>
            </a:lvl1pPr>
          </a:lstStyle>
          <a:p>
            <a:pPr>
              <a:defRPr/>
            </a:pPr>
            <a:fld id="{850FD6FE-2261-45A5-A87E-257109D8CFE3}" type="slidenum">
              <a:rPr lang="en-US"/>
              <a:pPr>
                <a:defRPr/>
              </a:pPr>
              <a:t>‹#›</a:t>
            </a:fld>
            <a:endParaRPr lang="en-US" dirty="0"/>
          </a:p>
        </p:txBody>
      </p:sp>
    </p:spTree>
    <p:extLst>
      <p:ext uri="{BB962C8B-B14F-4D97-AF65-F5344CB8AC3E}">
        <p14:creationId xmlns:p14="http://schemas.microsoft.com/office/powerpoint/2010/main" val="1516228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8F2B46AB-2294-D336-4883-99EF006DC654}"/>
              </a:ext>
            </a:extLst>
          </p:cNvPr>
          <p:cNvSpPr>
            <a:spLocks noGrp="1"/>
          </p:cNvSpPr>
          <p:nvPr>
            <p:ph type="dt" sz="half" idx="10"/>
          </p:nvPr>
        </p:nvSpPr>
        <p:spPr/>
        <p:txBody>
          <a:bodyPr/>
          <a:lstStyle>
            <a:lvl1pPr>
              <a:defRPr/>
            </a:lvl1pPr>
          </a:lstStyle>
          <a:p>
            <a:pPr>
              <a:defRPr/>
            </a:pPr>
            <a:fld id="{C87C7352-2ED4-4160-AEE7-3489386D6A56}"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06210F9A-9224-7662-C822-AFB8594019E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A37160D-0C7C-3A26-5631-F0BC39A2EE12}"/>
              </a:ext>
            </a:extLst>
          </p:cNvPr>
          <p:cNvSpPr>
            <a:spLocks noGrp="1"/>
          </p:cNvSpPr>
          <p:nvPr>
            <p:ph type="sldNum" sz="quarter" idx="12"/>
          </p:nvPr>
        </p:nvSpPr>
        <p:spPr/>
        <p:txBody>
          <a:bodyPr/>
          <a:lstStyle>
            <a:lvl1pPr>
              <a:defRPr/>
            </a:lvl1pPr>
          </a:lstStyle>
          <a:p>
            <a:pPr>
              <a:defRPr/>
            </a:pPr>
            <a:fld id="{6890B5E8-0DCF-48C3-AA80-32EE6C748A5F}" type="slidenum">
              <a:rPr lang="en-US"/>
              <a:pPr>
                <a:defRPr/>
              </a:pPr>
              <a:t>‹#›</a:t>
            </a:fld>
            <a:endParaRPr lang="en-US" dirty="0"/>
          </a:p>
        </p:txBody>
      </p:sp>
    </p:spTree>
    <p:extLst>
      <p:ext uri="{BB962C8B-B14F-4D97-AF65-F5344CB8AC3E}">
        <p14:creationId xmlns:p14="http://schemas.microsoft.com/office/powerpoint/2010/main" val="2263665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9957FC-E790-789E-0C6B-7698D3BCE5BB}"/>
              </a:ext>
            </a:extLst>
          </p:cNvPr>
          <p:cNvSpPr>
            <a:spLocks noGrp="1"/>
          </p:cNvSpPr>
          <p:nvPr>
            <p:ph type="dt" sz="half" idx="10"/>
          </p:nvPr>
        </p:nvSpPr>
        <p:spPr/>
        <p:txBody>
          <a:bodyPr/>
          <a:lstStyle>
            <a:lvl1pPr>
              <a:defRPr/>
            </a:lvl1pPr>
          </a:lstStyle>
          <a:p>
            <a:pPr>
              <a:defRPr/>
            </a:pPr>
            <a:fld id="{5A0518C7-243A-41C3-B94C-E9D3DE682564}"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08D93373-EBE7-A900-19CD-B720B5D43DF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EF107F3-69A9-1A8F-3130-E9FFD81DEB91}"/>
              </a:ext>
            </a:extLst>
          </p:cNvPr>
          <p:cNvSpPr>
            <a:spLocks noGrp="1"/>
          </p:cNvSpPr>
          <p:nvPr>
            <p:ph type="sldNum" sz="quarter" idx="12"/>
          </p:nvPr>
        </p:nvSpPr>
        <p:spPr/>
        <p:txBody>
          <a:bodyPr/>
          <a:lstStyle>
            <a:lvl1pPr>
              <a:defRPr/>
            </a:lvl1pPr>
          </a:lstStyle>
          <a:p>
            <a:pPr>
              <a:defRPr/>
            </a:pPr>
            <a:fld id="{CE6C632F-CDFE-4F33-B64D-536D9525E022}" type="slidenum">
              <a:rPr lang="en-US"/>
              <a:pPr>
                <a:defRPr/>
              </a:pPr>
              <a:t>‹#›</a:t>
            </a:fld>
            <a:endParaRPr lang="en-US" dirty="0"/>
          </a:p>
        </p:txBody>
      </p:sp>
    </p:spTree>
    <p:extLst>
      <p:ext uri="{BB962C8B-B14F-4D97-AF65-F5344CB8AC3E}">
        <p14:creationId xmlns:p14="http://schemas.microsoft.com/office/powerpoint/2010/main" val="323070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5E04CC-48AD-9C96-8D81-753A69E6A435}"/>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BF79C41A-F81F-0D2B-7B61-5B582B7EDB73}"/>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1903674B-295A-6D7E-E938-22117634207C}"/>
              </a:ext>
            </a:extLst>
          </p:cNvPr>
          <p:cNvSpPr>
            <a:spLocks noGrp="1"/>
          </p:cNvSpPr>
          <p:nvPr>
            <p:ph type="dt" sz="half" idx="14"/>
          </p:nvPr>
        </p:nvSpPr>
        <p:spPr/>
        <p:txBody>
          <a:bodyPr/>
          <a:lstStyle>
            <a:lvl1pPr>
              <a:defRPr/>
            </a:lvl1pPr>
          </a:lstStyle>
          <a:p>
            <a:pPr>
              <a:defRPr/>
            </a:pPr>
            <a:fld id="{A1CC7367-39B1-49FD-B60B-ABBB30060885}" type="datetimeFigureOut">
              <a:rPr lang="en-US"/>
              <a:pPr>
                <a:defRPr/>
              </a:pPr>
              <a:t>2/13/2026</a:t>
            </a:fld>
            <a:endParaRPr lang="en-US" dirty="0"/>
          </a:p>
        </p:txBody>
      </p:sp>
      <p:sp>
        <p:nvSpPr>
          <p:cNvPr id="7" name="Footer Placeholder 4">
            <a:extLst>
              <a:ext uri="{FF2B5EF4-FFF2-40B4-BE49-F238E27FC236}">
                <a16:creationId xmlns:a16="http://schemas.microsoft.com/office/drawing/2014/main" id="{C040D0BA-2287-660C-BCD2-36F90D031846}"/>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538022F6-4E3F-E213-3D53-3783E8D6FBA6}"/>
              </a:ext>
            </a:extLst>
          </p:cNvPr>
          <p:cNvSpPr>
            <a:spLocks noGrp="1"/>
          </p:cNvSpPr>
          <p:nvPr>
            <p:ph type="sldNum" sz="quarter" idx="16"/>
          </p:nvPr>
        </p:nvSpPr>
        <p:spPr/>
        <p:txBody>
          <a:bodyPr/>
          <a:lstStyle>
            <a:lvl1pPr>
              <a:defRPr/>
            </a:lvl1pPr>
          </a:lstStyle>
          <a:p>
            <a:pPr>
              <a:defRPr/>
            </a:pPr>
            <a:fld id="{13E2D608-7980-43E0-898C-63B9E9A52A0E}" type="slidenum">
              <a:rPr lang="en-US"/>
              <a:pPr>
                <a:defRPr/>
              </a:pPr>
              <a:t>‹#›</a:t>
            </a:fld>
            <a:endParaRPr lang="en-US" dirty="0"/>
          </a:p>
        </p:txBody>
      </p:sp>
    </p:spTree>
    <p:extLst>
      <p:ext uri="{BB962C8B-B14F-4D97-AF65-F5344CB8AC3E}">
        <p14:creationId xmlns:p14="http://schemas.microsoft.com/office/powerpoint/2010/main" val="4260035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E88730-63FA-0034-1CE6-47FECE7DCB27}"/>
              </a:ext>
            </a:extLst>
          </p:cNvPr>
          <p:cNvSpPr>
            <a:spLocks noGrp="1"/>
          </p:cNvSpPr>
          <p:nvPr>
            <p:ph type="dt" sz="half" idx="10"/>
          </p:nvPr>
        </p:nvSpPr>
        <p:spPr/>
        <p:txBody>
          <a:bodyPr/>
          <a:lstStyle>
            <a:lvl1pPr>
              <a:defRPr/>
            </a:lvl1pPr>
          </a:lstStyle>
          <a:p>
            <a:pPr>
              <a:defRPr/>
            </a:pPr>
            <a:fld id="{2FFE2AF5-F831-42CC-875E-D1368FFE0327}"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A10BA14D-C24D-E557-2049-D6BEDAFB4B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424E2D0-D886-5F42-3674-2DECBE253441}"/>
              </a:ext>
            </a:extLst>
          </p:cNvPr>
          <p:cNvSpPr>
            <a:spLocks noGrp="1"/>
          </p:cNvSpPr>
          <p:nvPr>
            <p:ph type="sldNum" sz="quarter" idx="12"/>
          </p:nvPr>
        </p:nvSpPr>
        <p:spPr/>
        <p:txBody>
          <a:bodyPr/>
          <a:lstStyle>
            <a:lvl1pPr>
              <a:defRPr/>
            </a:lvl1pPr>
          </a:lstStyle>
          <a:p>
            <a:pPr>
              <a:defRPr/>
            </a:pPr>
            <a:fld id="{6F3653FC-9346-4110-A474-0718D1350398}" type="slidenum">
              <a:rPr lang="en-US"/>
              <a:pPr>
                <a:defRPr/>
              </a:pPr>
              <a:t>‹#›</a:t>
            </a:fld>
            <a:endParaRPr lang="en-US" dirty="0"/>
          </a:p>
        </p:txBody>
      </p:sp>
    </p:spTree>
    <p:extLst>
      <p:ext uri="{BB962C8B-B14F-4D97-AF65-F5344CB8AC3E}">
        <p14:creationId xmlns:p14="http://schemas.microsoft.com/office/powerpoint/2010/main" val="3516219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D36C9E-FEB8-10B9-3068-2BD7327A34FA}"/>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8B531E77-B7EC-8149-942C-9415A7E0D6D8}"/>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1B7FCD84-134E-C2A4-44C2-8B59429CED35}"/>
              </a:ext>
            </a:extLst>
          </p:cNvPr>
          <p:cNvSpPr>
            <a:spLocks noGrp="1"/>
          </p:cNvSpPr>
          <p:nvPr>
            <p:ph type="dt" sz="half" idx="14"/>
          </p:nvPr>
        </p:nvSpPr>
        <p:spPr/>
        <p:txBody>
          <a:bodyPr/>
          <a:lstStyle>
            <a:lvl1pPr>
              <a:defRPr/>
            </a:lvl1pPr>
          </a:lstStyle>
          <a:p>
            <a:pPr>
              <a:defRPr/>
            </a:pPr>
            <a:fld id="{2F39192D-CF13-42AE-982E-23D8BE2D3C46}" type="datetimeFigureOut">
              <a:rPr lang="en-US"/>
              <a:pPr>
                <a:defRPr/>
              </a:pPr>
              <a:t>2/13/2026</a:t>
            </a:fld>
            <a:endParaRPr lang="en-US" dirty="0"/>
          </a:p>
        </p:txBody>
      </p:sp>
      <p:sp>
        <p:nvSpPr>
          <p:cNvPr id="7" name="Footer Placeholder 4">
            <a:extLst>
              <a:ext uri="{FF2B5EF4-FFF2-40B4-BE49-F238E27FC236}">
                <a16:creationId xmlns:a16="http://schemas.microsoft.com/office/drawing/2014/main" id="{7867A659-59AB-D6F6-CDE0-2E7E48252E60}"/>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0615A94F-832B-0084-AB33-4A61145F7903}"/>
              </a:ext>
            </a:extLst>
          </p:cNvPr>
          <p:cNvSpPr>
            <a:spLocks noGrp="1"/>
          </p:cNvSpPr>
          <p:nvPr>
            <p:ph type="sldNum" sz="quarter" idx="16"/>
          </p:nvPr>
        </p:nvSpPr>
        <p:spPr/>
        <p:txBody>
          <a:bodyPr/>
          <a:lstStyle>
            <a:lvl1pPr>
              <a:defRPr/>
            </a:lvl1pPr>
          </a:lstStyle>
          <a:p>
            <a:pPr>
              <a:defRPr/>
            </a:pPr>
            <a:fld id="{B63CFCAA-730E-4A12-A830-8895F9EE2D5A}" type="slidenum">
              <a:rPr lang="en-US"/>
              <a:pPr>
                <a:defRPr/>
              </a:pPr>
              <a:t>‹#›</a:t>
            </a:fld>
            <a:endParaRPr lang="en-US" dirty="0"/>
          </a:p>
        </p:txBody>
      </p:sp>
    </p:spTree>
    <p:extLst>
      <p:ext uri="{BB962C8B-B14F-4D97-AF65-F5344CB8AC3E}">
        <p14:creationId xmlns:p14="http://schemas.microsoft.com/office/powerpoint/2010/main" val="4007928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51C9F6-3025-AF2F-410A-23B0B3A37D3C}"/>
              </a:ext>
            </a:extLst>
          </p:cNvPr>
          <p:cNvSpPr>
            <a:spLocks noGrp="1"/>
          </p:cNvSpPr>
          <p:nvPr>
            <p:ph type="dt" sz="half" idx="14"/>
          </p:nvPr>
        </p:nvSpPr>
        <p:spPr/>
        <p:txBody>
          <a:bodyPr/>
          <a:lstStyle>
            <a:lvl1pPr>
              <a:defRPr/>
            </a:lvl1pPr>
          </a:lstStyle>
          <a:p>
            <a:pPr>
              <a:defRPr/>
            </a:pPr>
            <a:fld id="{288F4426-46AD-4D33-8C74-854FF4EFE507}"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C4FBF918-AC3C-D4FB-7442-452982ADF7C7}"/>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DA27824-FD5E-B2C4-3576-524F9D4F2787}"/>
              </a:ext>
            </a:extLst>
          </p:cNvPr>
          <p:cNvSpPr>
            <a:spLocks noGrp="1"/>
          </p:cNvSpPr>
          <p:nvPr>
            <p:ph type="sldNum" sz="quarter" idx="16"/>
          </p:nvPr>
        </p:nvSpPr>
        <p:spPr/>
        <p:txBody>
          <a:bodyPr/>
          <a:lstStyle>
            <a:lvl1pPr>
              <a:defRPr/>
            </a:lvl1pPr>
          </a:lstStyle>
          <a:p>
            <a:pPr>
              <a:defRPr/>
            </a:pPr>
            <a:fld id="{F00D9319-CFC6-43F8-B13E-2750454BC5CF}" type="slidenum">
              <a:rPr lang="en-US"/>
              <a:pPr>
                <a:defRPr/>
              </a:pPr>
              <a:t>‹#›</a:t>
            </a:fld>
            <a:endParaRPr lang="en-US" dirty="0"/>
          </a:p>
        </p:txBody>
      </p:sp>
    </p:spTree>
    <p:extLst>
      <p:ext uri="{BB962C8B-B14F-4D97-AF65-F5344CB8AC3E}">
        <p14:creationId xmlns:p14="http://schemas.microsoft.com/office/powerpoint/2010/main" val="1516800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D6134A7-4BAA-6318-A56D-AA963FE0788D}"/>
              </a:ext>
            </a:extLst>
          </p:cNvPr>
          <p:cNvSpPr>
            <a:spLocks noGrp="1"/>
          </p:cNvSpPr>
          <p:nvPr>
            <p:ph type="dt" sz="half" idx="10"/>
          </p:nvPr>
        </p:nvSpPr>
        <p:spPr/>
        <p:txBody>
          <a:bodyPr/>
          <a:lstStyle>
            <a:lvl1pPr>
              <a:defRPr/>
            </a:lvl1pPr>
          </a:lstStyle>
          <a:p>
            <a:pPr>
              <a:defRPr/>
            </a:pPr>
            <a:fld id="{5FC2B578-7A8A-4B7F-BF34-4C388B87AB0A}"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7E44D8E5-75A0-C659-4E75-4148CA453B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926161B-AE92-1A53-1F0A-4C81DC24C44F}"/>
              </a:ext>
            </a:extLst>
          </p:cNvPr>
          <p:cNvSpPr>
            <a:spLocks noGrp="1"/>
          </p:cNvSpPr>
          <p:nvPr>
            <p:ph type="sldNum" sz="quarter" idx="12"/>
          </p:nvPr>
        </p:nvSpPr>
        <p:spPr/>
        <p:txBody>
          <a:bodyPr/>
          <a:lstStyle>
            <a:lvl1pPr>
              <a:defRPr/>
            </a:lvl1pPr>
          </a:lstStyle>
          <a:p>
            <a:pPr>
              <a:defRPr/>
            </a:pPr>
            <a:fld id="{4DDF879A-51C1-43A0-A001-80B32648AF0C}" type="slidenum">
              <a:rPr lang="en-US"/>
              <a:pPr>
                <a:defRPr/>
              </a:pPr>
              <a:t>‹#›</a:t>
            </a:fld>
            <a:endParaRPr lang="en-US" dirty="0"/>
          </a:p>
        </p:txBody>
      </p:sp>
    </p:spTree>
    <p:extLst>
      <p:ext uri="{BB962C8B-B14F-4D97-AF65-F5344CB8AC3E}">
        <p14:creationId xmlns:p14="http://schemas.microsoft.com/office/powerpoint/2010/main" val="2863085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CE50497-8948-5555-0F41-B8EC0E40F6D5}"/>
              </a:ext>
            </a:extLst>
          </p:cNvPr>
          <p:cNvSpPr>
            <a:spLocks noGrp="1"/>
          </p:cNvSpPr>
          <p:nvPr>
            <p:ph type="dt" sz="half" idx="10"/>
          </p:nvPr>
        </p:nvSpPr>
        <p:spPr/>
        <p:txBody>
          <a:bodyPr/>
          <a:lstStyle>
            <a:lvl1pPr>
              <a:defRPr/>
            </a:lvl1pPr>
          </a:lstStyle>
          <a:p>
            <a:pPr>
              <a:defRPr/>
            </a:pPr>
            <a:fld id="{38D34CBE-99F0-4989-9A0D-E04D1BE0C71E}"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71FCEAAA-FE5E-4D5E-562F-A011223C002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9E418D4-88F9-67DD-DA7C-14E5A8814E9D}"/>
              </a:ext>
            </a:extLst>
          </p:cNvPr>
          <p:cNvSpPr>
            <a:spLocks noGrp="1"/>
          </p:cNvSpPr>
          <p:nvPr>
            <p:ph type="sldNum" sz="quarter" idx="12"/>
          </p:nvPr>
        </p:nvSpPr>
        <p:spPr/>
        <p:txBody>
          <a:bodyPr/>
          <a:lstStyle>
            <a:lvl1pPr>
              <a:defRPr/>
            </a:lvl1pPr>
          </a:lstStyle>
          <a:p>
            <a:pPr>
              <a:defRPr/>
            </a:pPr>
            <a:fld id="{431B9348-BBA0-41BF-B748-FF6E8FC81590}" type="slidenum">
              <a:rPr lang="en-US"/>
              <a:pPr>
                <a:defRPr/>
              </a:pPr>
              <a:t>‹#›</a:t>
            </a:fld>
            <a:endParaRPr lang="en-US" dirty="0"/>
          </a:p>
        </p:txBody>
      </p:sp>
    </p:spTree>
    <p:extLst>
      <p:ext uri="{BB962C8B-B14F-4D97-AF65-F5344CB8AC3E}">
        <p14:creationId xmlns:p14="http://schemas.microsoft.com/office/powerpoint/2010/main" val="3942117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73ECDBB0-7DDA-1ADA-87D2-5D8478C465B7}"/>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42C8EDB2-0672-34C5-5426-81E0E5D6EF1E}"/>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65E17FA5-AC6D-B84F-2CAD-DEF8342A2EB0}"/>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D44E9CE-3DF0-5485-9CEF-0E3FEF192FBB}"/>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FD6BD7DE-E240-4242-542F-783A6363F374}"/>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E9C21218-EB74-E66F-AE49-4361A809FF0E}"/>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C472A8D8-5848-E7A3-351D-DC365E0804C0}"/>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E6900C11-D536-F381-7B1B-283619DD3920}"/>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A8C343DE-CC40-6946-FCED-B79780CE87A6}"/>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F85FE224-C4F6-2BE2-A9AE-380A851F3D6F}"/>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4F397C97-9A15-E621-04E0-60A9D37856A6}"/>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F77F2AD8-C706-37D5-117A-75CF85B0A591}"/>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A4566CE8-F5A0-6E1B-789E-9FFD666EDF57}"/>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87C3937-D65B-77AA-5BBC-40FA51240359}"/>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345059EC-5B45-46FD-8FB7-8199F99F4612}"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A7AAA07E-2B85-1716-CF23-D667F54A419A}"/>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0942DD38-1534-177C-AEAA-886358B349F2}"/>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478641E8-1052-44F9-A91A-C132BB9CD8F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48"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9" r:id="rId11"/>
    <p:sldLayoutId id="2147483944" r:id="rId12"/>
    <p:sldLayoutId id="2147483950" r:id="rId13"/>
    <p:sldLayoutId id="2147483945" r:id="rId14"/>
    <p:sldLayoutId id="2147483946" r:id="rId15"/>
    <p:sldLayoutId id="2147483947"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ebsco.com/research-starters/economics/hollands-theory-career-choic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documents1.worldbank.org/curated/en/909561611117067647/pdf/The-State-of-Economic-Inclusion-Report-2021-The-Potential-to-Scale.pdf" TargetMode="External"/><Relationship Id="rId5" Type="http://schemas.openxmlformats.org/officeDocument/2006/relationships/hyperlink" Target="https://webinsight.cs.washington.edu/papers/dissertation/dissertation.pdf" TargetMode="External"/><Relationship Id="rId4" Type="http://schemas.openxmlformats.org/officeDocument/2006/relationships/hyperlink" Target="https://ieeexplore.ieee.org/document/10911892"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93C24EF9-3848-6121-6867-78A0A113CAE8}"/>
              </a:ext>
            </a:extLst>
          </p:cNvPr>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endPar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D8A0FD86-E9FC-28F6-BD94-2A70EDB982A5}"/>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a:extLst>
              <a:ext uri="{FF2B5EF4-FFF2-40B4-BE49-F238E27FC236}">
                <a16:creationId xmlns:a16="http://schemas.microsoft.com/office/drawing/2014/main" id="{7657F091-B9E4-C4E2-2CC4-037169D82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179388"/>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1">
            <a:extLst>
              <a:ext uri="{FF2B5EF4-FFF2-40B4-BE49-F238E27FC236}">
                <a16:creationId xmlns:a16="http://schemas.microsoft.com/office/drawing/2014/main" id="{5759F72F-EB6B-61E5-F8F0-C03CB6F1FFCE}"/>
              </a:ext>
            </a:extLst>
          </p:cNvPr>
          <p:cNvSpPr txBox="1">
            <a:spLocks noChangeArrowheads="1"/>
          </p:cNvSpPr>
          <p:nvPr/>
        </p:nvSpPr>
        <p:spPr bwMode="auto">
          <a:xfrm>
            <a:off x="647700" y="2916238"/>
            <a:ext cx="8569325" cy="404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nSpc>
                <a:spcPct val="20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Theme – </a:t>
            </a:r>
            <a:r>
              <a:rPr lang="en-US" sz="2400" b="1" dirty="0">
                <a:solidFill>
                  <a:srgbClr val="272525"/>
                </a:solidFill>
                <a:latin typeface="Times New Roman" panose="02020603050405020304" pitchFamily="18" charset="0"/>
                <a:ea typeface="Tahoma" panose="020B0604030504040204" pitchFamily="34" charset="0"/>
                <a:cs typeface="Times New Roman" panose="02020603050405020304" pitchFamily="18" charset="0"/>
              </a:rPr>
              <a:t>SDG Goal 8: Decent Work and Economic Growth </a:t>
            </a:r>
          </a:p>
          <a:p>
            <a:pPr>
              <a:lnSpc>
                <a:spcPct val="20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Category – Software </a:t>
            </a:r>
          </a:p>
          <a:p>
            <a:pPr algn="just">
              <a:lnSpc>
                <a:spcPct val="20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Group No – 8 </a:t>
            </a:r>
          </a:p>
          <a:p>
            <a:pPr marL="342900" indent="-342900">
              <a:lnSpc>
                <a:spcPct val="150000"/>
              </a:lnSpc>
              <a:buSzPct val="100000"/>
              <a:buChar char="•"/>
            </a:pPr>
            <a:r>
              <a:rPr lang="en-US" altLang="en-US" sz="2400" b="1" dirty="0">
                <a:latin typeface="Times New Roman" panose="02020603050405020304" pitchFamily="18" charset="0"/>
                <a:cs typeface="Times New Roman" panose="02020603050405020304" pitchFamily="18" charset="0"/>
              </a:rPr>
              <a:t>Group Members –  </a:t>
            </a:r>
            <a:r>
              <a:rPr lang="en-US" sz="2400" b="1" dirty="0">
                <a:solidFill>
                  <a:srgbClr val="272525"/>
                </a:solidFill>
                <a:latin typeface="Times New Roman" panose="02020603050405020304" pitchFamily="18" charset="0"/>
                <a:ea typeface="Tahoma" panose="020B0604030504040204" pitchFamily="34" charset="0"/>
                <a:cs typeface="Times New Roman" panose="02020603050405020304" pitchFamily="18" charset="0"/>
              </a:rPr>
              <a:t>Yash Sawant 		Harsh Raulgaonkar</a:t>
            </a:r>
          </a:p>
          <a:p>
            <a:pPr>
              <a:lnSpc>
                <a:spcPct val="150000"/>
              </a:lnSpc>
              <a:buSzPct val="100000"/>
            </a:pPr>
            <a:r>
              <a:rPr lang="en-US" sz="2400" b="1" dirty="0">
                <a:solidFill>
                  <a:srgbClr val="272525"/>
                </a:solidFill>
                <a:latin typeface="Times New Roman" panose="02020603050405020304" pitchFamily="18" charset="0"/>
                <a:ea typeface="Tahoma" panose="020B0604030504040204" pitchFamily="34" charset="0"/>
                <a:cs typeface="Times New Roman" panose="02020603050405020304" pitchFamily="18" charset="0"/>
              </a:rPr>
              <a:t>                                      Parth Rane  		      Sohan Vernekar</a:t>
            </a:r>
            <a:endParaRPr lang="en-US" altLang="en-US" sz="2400" b="1"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Guide – </a:t>
            </a:r>
            <a:r>
              <a:rPr lang="en-US" sz="2400" b="1" dirty="0">
                <a:solidFill>
                  <a:srgbClr val="272525"/>
                </a:solidFill>
                <a:latin typeface="Times New Roman" panose="02020603050405020304" pitchFamily="18" charset="0"/>
                <a:ea typeface="Tahoma" panose="020B0604030504040204" pitchFamily="34" charset="0"/>
                <a:cs typeface="Times New Roman" panose="02020603050405020304" pitchFamily="18" charset="0"/>
              </a:rPr>
              <a:t>Prof. Yogeshwari Hardas</a:t>
            </a:r>
            <a:endParaRPr lang="en-US" altLang="en-US" sz="2400" b="1" dirty="0">
              <a:latin typeface="Times New Roman" panose="02020603050405020304" pitchFamily="18" charset="0"/>
              <a:cs typeface="Times New Roman" panose="02020603050405020304" pitchFamily="18" charset="0"/>
            </a:endParaRPr>
          </a:p>
        </p:txBody>
      </p:sp>
      <p:sp>
        <p:nvSpPr>
          <p:cNvPr id="4" name="Title 7">
            <a:extLst>
              <a:ext uri="{FF2B5EF4-FFF2-40B4-BE49-F238E27FC236}">
                <a16:creationId xmlns:a16="http://schemas.microsoft.com/office/drawing/2014/main" id="{1580A11D-D502-1972-F02A-19D48BA57A3E}"/>
              </a:ext>
            </a:extLst>
          </p:cNvPr>
          <p:cNvSpPr txBox="1">
            <a:spLocks/>
          </p:cNvSpPr>
          <p:nvPr/>
        </p:nvSpPr>
        <p:spPr bwMode="auto">
          <a:xfrm>
            <a:off x="-541895" y="2043223"/>
            <a:ext cx="11161240" cy="571500"/>
          </a:xfrm>
          <a:prstGeom prst="rect">
            <a:avLst/>
          </a:prstGeom>
          <a:noFill/>
          <a:ln>
            <a:noFill/>
          </a:ln>
        </p:spPr>
        <p:txBody>
          <a:bodyPr>
            <a:noAutofit/>
          </a:bodyPr>
          <a:lstStyle>
            <a:lvl1pPr algn="l" defTabSz="503238" rtl="0" eaLnBrk="0" fontAlgn="base" hangingPunct="0">
              <a:spcBef>
                <a:spcPct val="0"/>
              </a:spcBef>
              <a:spcAft>
                <a:spcPct val="0"/>
              </a:spcAft>
              <a:defRPr sz="3968"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ts val="5550"/>
              </a:lnSpc>
            </a:pPr>
            <a:r>
              <a:rPr lang="en-US" sz="3400" b="1" dirty="0">
                <a:solidFill>
                  <a:srgbClr val="000000"/>
                </a:solidFill>
                <a:latin typeface="Times New Roman" panose="02020603050405020304" pitchFamily="18" charset="0"/>
                <a:ea typeface="Inter Bold" pitchFamily="34" charset="-122"/>
                <a:cs typeface="Times New Roman" panose="02020603050405020304" pitchFamily="18" charset="0"/>
              </a:rPr>
              <a:t>Inclusive Career Paths for Differently Abled People</a:t>
            </a:r>
            <a:endParaRPr lang="en-US" sz="3400"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ECBC11F1-9C31-F2C6-D596-7EA464170349}"/>
              </a:ext>
            </a:extLst>
          </p:cNvPr>
          <p:cNvSpPr>
            <a:spLocks noChangeArrowheads="1"/>
          </p:cNvSpPr>
          <p:nvPr/>
        </p:nvSpPr>
        <p:spPr bwMode="auto">
          <a:xfrm>
            <a:off x="504825" y="144463"/>
            <a:ext cx="9070975"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dirty="0">
                <a:solidFill>
                  <a:srgbClr val="000000"/>
                </a:solidFill>
                <a:latin typeface="Times New Roman" panose="02020603050405020304" pitchFamily="18" charset="0"/>
                <a:cs typeface="DejaVu Sans" charset="0"/>
              </a:rPr>
              <a:t>Outline</a:t>
            </a:r>
          </a:p>
        </p:txBody>
      </p:sp>
      <p:sp>
        <p:nvSpPr>
          <p:cNvPr id="10243" name="Rectangle 2">
            <a:extLst>
              <a:ext uri="{FF2B5EF4-FFF2-40B4-BE49-F238E27FC236}">
                <a16:creationId xmlns:a16="http://schemas.microsoft.com/office/drawing/2014/main" id="{E35D7522-3D55-D40D-F9B2-F7C3E21A63D3}"/>
              </a:ext>
            </a:extLst>
          </p:cNvPr>
          <p:cNvSpPr>
            <a:spLocks noChangeArrowheads="1"/>
          </p:cNvSpPr>
          <p:nvPr/>
        </p:nvSpPr>
        <p:spPr bwMode="auto">
          <a:xfrm>
            <a:off x="504825" y="990600"/>
            <a:ext cx="9323388" cy="631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Literature Survey</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Limitations of  existing systems</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Problem statement and Objectives</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Proposed Methodology </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Experimental Setup</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Implementation</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Results &amp; Analysis</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Conclusion and Future work</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References</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F1752053-FEBD-7A00-F6C1-1D1C992CB8F9}"/>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41A5995F-8A83-4F82-D409-0A7F1E117D06}"/>
              </a:ext>
            </a:extLst>
          </p:cNvPr>
          <p:cNvSpPr txBox="1">
            <a:spLocks/>
          </p:cNvSpPr>
          <p:nvPr/>
        </p:nvSpPr>
        <p:spPr bwMode="auto">
          <a:xfrm>
            <a:off x="414336" y="1012030"/>
            <a:ext cx="9251950" cy="5535613"/>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Background of the Topic</a:t>
            </a:r>
          </a:p>
          <a:p>
            <a:r>
              <a:rPr lang="en-GB" sz="2000" dirty="0">
                <a:latin typeface="Times New Roman" panose="02020603050405020304" pitchFamily="18" charset="0"/>
                <a:cs typeface="Times New Roman" panose="02020603050405020304" pitchFamily="18" charset="0"/>
              </a:rPr>
              <a:t>Persons with disabilities often face limited access to structured career guidance systems</a:t>
            </a:r>
          </a:p>
          <a:p>
            <a:r>
              <a:rPr lang="en-GB" sz="2000" dirty="0">
                <a:latin typeface="Times New Roman" panose="02020603050405020304" pitchFamily="18" charset="0"/>
                <a:cs typeface="Times New Roman" panose="02020603050405020304" pitchFamily="18" charset="0"/>
              </a:rPr>
              <a:t>Traditional </a:t>
            </a:r>
            <a:r>
              <a:rPr lang="en-GB" sz="2000" dirty="0" err="1">
                <a:latin typeface="Times New Roman" panose="02020603050405020304" pitchFamily="18" charset="0"/>
                <a:cs typeface="Times New Roman" panose="02020603050405020304" pitchFamily="18" charset="0"/>
              </a:rPr>
              <a:t>counseling</a:t>
            </a:r>
            <a:r>
              <a:rPr lang="en-GB" sz="2000" dirty="0">
                <a:latin typeface="Times New Roman" panose="02020603050405020304" pitchFamily="18" charset="0"/>
                <a:cs typeface="Times New Roman" panose="02020603050405020304" pitchFamily="18" charset="0"/>
              </a:rPr>
              <a:t> methods do not consider functional abilities, accessibility needs, and adaptive learning requirements</a:t>
            </a:r>
          </a:p>
          <a:p>
            <a:r>
              <a:rPr lang="en-GB" sz="2000" dirty="0">
                <a:latin typeface="Times New Roman" panose="02020603050405020304" pitchFamily="18" charset="0"/>
                <a:cs typeface="Times New Roman" panose="02020603050405020304" pitchFamily="18" charset="0"/>
              </a:rPr>
              <a:t>Technology driven adaptive assessment systems can enable inclusive career decision support</a:t>
            </a:r>
          </a:p>
          <a:p>
            <a:r>
              <a:rPr lang="en-GB" sz="2000" dirty="0">
                <a:latin typeface="Times New Roman" panose="02020603050405020304" pitchFamily="18" charset="0"/>
                <a:cs typeface="Times New Roman" panose="02020603050405020304" pitchFamily="18" charset="0"/>
              </a:rPr>
              <a:t>Inclusive career platforms support equitable participation in education and employment</a:t>
            </a:r>
          </a:p>
          <a:p>
            <a:pPr marL="0" indent="0">
              <a:buNone/>
            </a:pPr>
            <a:r>
              <a:rPr lang="en-GB" sz="2000" b="1" dirty="0">
                <a:latin typeface="Times New Roman" panose="02020603050405020304" pitchFamily="18" charset="0"/>
                <a:cs typeface="Times New Roman" panose="02020603050405020304" pitchFamily="18" charset="0"/>
              </a:rPr>
              <a:t>Importance of the Problem</a:t>
            </a:r>
          </a:p>
          <a:p>
            <a:r>
              <a:rPr lang="en-GB" sz="2000" dirty="0">
                <a:latin typeface="Times New Roman" panose="02020603050405020304" pitchFamily="18" charset="0"/>
                <a:cs typeface="Times New Roman" panose="02020603050405020304" pitchFamily="18" charset="0"/>
              </a:rPr>
              <a:t>High unemployment rates among persons with disabilities due to career mismatch and limited guidance</a:t>
            </a:r>
          </a:p>
          <a:p>
            <a:r>
              <a:rPr lang="en-GB" sz="2000" dirty="0">
                <a:latin typeface="Times New Roman" panose="02020603050405020304" pitchFamily="18" charset="0"/>
                <a:cs typeface="Times New Roman" panose="02020603050405020304" pitchFamily="18" charset="0"/>
              </a:rPr>
              <a:t>Lack of accessible recommendation platforms reduces skill utilization and economic participation</a:t>
            </a:r>
          </a:p>
          <a:p>
            <a:r>
              <a:rPr lang="en-GB" sz="2000" dirty="0">
                <a:latin typeface="Times New Roman" panose="02020603050405020304" pitchFamily="18" charset="0"/>
                <a:cs typeface="Times New Roman" panose="02020603050405020304" pitchFamily="18" charset="0"/>
              </a:rPr>
              <a:t>Inclusive digital career systems improve employability, independence, and social inclusion</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99B670C-E60B-8CC6-0568-C8818476BF84}"/>
              </a:ext>
            </a:extLst>
          </p:cNvPr>
          <p:cNvSpPr txBox="1">
            <a:spLocks/>
          </p:cNvSpPr>
          <p:nvPr/>
        </p:nvSpPr>
        <p:spPr bwMode="auto">
          <a:xfrm>
            <a:off x="575816" y="179437"/>
            <a:ext cx="8928992" cy="6984776"/>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Current Challenges</a:t>
            </a:r>
          </a:p>
          <a:p>
            <a:r>
              <a:rPr lang="en-GB" sz="2000" dirty="0">
                <a:latin typeface="Times New Roman" panose="02020603050405020304" pitchFamily="18" charset="0"/>
                <a:cs typeface="Times New Roman" panose="02020603050405020304" pitchFamily="18" charset="0"/>
              </a:rPr>
              <a:t>Absence of personalized disability-specific career assessment systems</a:t>
            </a:r>
          </a:p>
          <a:p>
            <a:r>
              <a:rPr lang="en-GB" sz="2000" dirty="0">
                <a:latin typeface="Times New Roman" panose="02020603050405020304" pitchFamily="18" charset="0"/>
                <a:cs typeface="Times New Roman" panose="02020603050405020304" pitchFamily="18" charset="0"/>
              </a:rPr>
              <a:t>Limited awareness of accessible career pathways and assistive technologies</a:t>
            </a:r>
          </a:p>
          <a:p>
            <a:r>
              <a:rPr lang="en-GB" sz="2000" dirty="0">
                <a:latin typeface="Times New Roman" panose="02020603050405020304" pitchFamily="18" charset="0"/>
                <a:cs typeface="Times New Roman" panose="02020603050405020304" pitchFamily="18" charset="0"/>
              </a:rPr>
              <a:t>Generic recommendation engines ignore functional capability constraints</a:t>
            </a:r>
          </a:p>
          <a:p>
            <a:r>
              <a:rPr lang="en-GB" sz="2000" dirty="0">
                <a:latin typeface="Times New Roman" panose="02020603050405020304" pitchFamily="18" charset="0"/>
                <a:cs typeface="Times New Roman" panose="02020603050405020304" pitchFamily="18" charset="0"/>
              </a:rPr>
              <a:t>Fragmented availability of skill training and disability-inclusive job databases</a:t>
            </a:r>
            <a:br>
              <a:rPr lang="en-GB" sz="2000" dirty="0">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Motivation</a:t>
            </a:r>
          </a:p>
          <a:p>
            <a:r>
              <a:rPr lang="en-GB" sz="2000" dirty="0">
                <a:latin typeface="Times New Roman" panose="02020603050405020304" pitchFamily="18" charset="0"/>
                <a:cs typeface="Times New Roman" panose="02020603050405020304" pitchFamily="18" charset="0"/>
              </a:rPr>
              <a:t>Observation: Many capable individuals remain underemployed due to lack of adaptive guidance tools</a:t>
            </a:r>
          </a:p>
          <a:p>
            <a:r>
              <a:rPr lang="en-GB" sz="2000" dirty="0">
                <a:latin typeface="Times New Roman" panose="02020603050405020304" pitchFamily="18" charset="0"/>
                <a:cs typeface="Times New Roman" panose="02020603050405020304" pitchFamily="18" charset="0"/>
              </a:rPr>
              <a:t>Need for assisted inclusive career recommendation frameworks</a:t>
            </a:r>
          </a:p>
          <a:p>
            <a:r>
              <a:rPr lang="en-GB" sz="2000" dirty="0">
                <a:latin typeface="Times New Roman" panose="02020603050405020304" pitchFamily="18" charset="0"/>
                <a:cs typeface="Times New Roman" panose="02020603050405020304" pitchFamily="18" charset="0"/>
              </a:rPr>
              <a:t>Alignment with SDGs:</a:t>
            </a:r>
          </a:p>
          <a:p>
            <a:pPr lvl="1"/>
            <a:r>
              <a:rPr lang="en-GB" sz="2000" dirty="0">
                <a:latin typeface="Times New Roman" panose="02020603050405020304" pitchFamily="18" charset="0"/>
                <a:cs typeface="Times New Roman" panose="02020603050405020304" pitchFamily="18" charset="0"/>
              </a:rPr>
              <a:t>SDG 4: Inclusive Quality Education</a:t>
            </a:r>
          </a:p>
          <a:p>
            <a:pPr lvl="1"/>
            <a:r>
              <a:rPr lang="en-GB" sz="2000" dirty="0">
                <a:latin typeface="Times New Roman" panose="02020603050405020304" pitchFamily="18" charset="0"/>
                <a:cs typeface="Times New Roman" panose="02020603050405020304" pitchFamily="18" charset="0"/>
              </a:rPr>
              <a:t>SDG 8: Decent Work &amp; Economic Growth</a:t>
            </a:r>
          </a:p>
          <a:p>
            <a:pPr lvl="1"/>
            <a:r>
              <a:rPr lang="en-GB" sz="2000" dirty="0">
                <a:latin typeface="Times New Roman" panose="02020603050405020304" pitchFamily="18" charset="0"/>
                <a:cs typeface="Times New Roman" panose="02020603050405020304" pitchFamily="18" charset="0"/>
              </a:rPr>
              <a:t>SDG 10: Reduced Inequalities</a:t>
            </a:r>
          </a:p>
          <a:p>
            <a:pPr marL="0" indent="0">
              <a:buNone/>
            </a:pPr>
            <a:endParaRPr lang="en-GB" sz="2000"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Objectives</a:t>
            </a:r>
          </a:p>
          <a:p>
            <a:r>
              <a:rPr lang="en-GB" sz="2000" dirty="0">
                <a:latin typeface="Times New Roman" panose="02020603050405020304" pitchFamily="18" charset="0"/>
                <a:cs typeface="Times New Roman" panose="02020603050405020304" pitchFamily="18" charset="0"/>
              </a:rPr>
              <a:t>Develop accessible adaptive assessment model for ability and interest mapping</a:t>
            </a:r>
          </a:p>
          <a:p>
            <a:r>
              <a:rPr lang="en-GB" sz="2000" dirty="0">
                <a:latin typeface="Times New Roman" panose="02020603050405020304" pitchFamily="18" charset="0"/>
                <a:cs typeface="Times New Roman" panose="02020603050405020304" pitchFamily="18" charset="0"/>
              </a:rPr>
              <a:t>Create structured inclusive career opportunity database</a:t>
            </a:r>
          </a:p>
          <a:p>
            <a:r>
              <a:rPr lang="en-GB" sz="2000" dirty="0">
                <a:latin typeface="Times New Roman" panose="02020603050405020304" pitchFamily="18" charset="0"/>
                <a:cs typeface="Times New Roman" panose="02020603050405020304" pitchFamily="18" charset="0"/>
              </a:rPr>
              <a:t>Provide decision support dashboards for users and support organizations</a:t>
            </a:r>
          </a:p>
          <a:p>
            <a:r>
              <a:rPr lang="en-GB" sz="2000" dirty="0">
                <a:latin typeface="Times New Roman" panose="02020603050405020304" pitchFamily="18" charset="0"/>
                <a:cs typeface="Times New Roman" panose="02020603050405020304" pitchFamily="18" charset="0"/>
              </a:rPr>
              <a:t>Contribute toward SDG 4, SDG 8, SDG 10 implementation through technology</a:t>
            </a:r>
          </a:p>
          <a:p>
            <a:pPr marL="0" indent="0">
              <a:buNone/>
            </a:pPr>
            <a:endParaRPr lang="en-GB" sz="2000" dirty="0">
              <a:latin typeface="Times New Roman" panose="02020603050405020304" pitchFamily="18" charset="0"/>
              <a:cs typeface="Times New Roman" panose="02020603050405020304" pitchFamily="18" charset="0"/>
            </a:endParaRPr>
          </a:p>
          <a:p>
            <a:pPr lvl="1"/>
            <a:endParaRPr lang="en-GB" sz="2000" dirty="0">
              <a:latin typeface="Times New Roman" panose="02020603050405020304" pitchFamily="18" charset="0"/>
              <a:cs typeface="Times New Roman" panose="02020603050405020304" pitchFamily="18" charset="0"/>
            </a:endParaRPr>
          </a:p>
          <a:p>
            <a:pPr lvl="1"/>
            <a:endParaRPr lang="en-GB" sz="2000" dirty="0">
              <a:latin typeface="Times New Roman" panose="02020603050405020304" pitchFamily="18" charset="0"/>
              <a:cs typeface="Times New Roman" panose="02020603050405020304" pitchFamily="18" charset="0"/>
            </a:endParaRPr>
          </a:p>
          <a:p>
            <a:pPr marL="457200" lvl="1" indent="0">
              <a:buNone/>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067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314AFDF-D2B0-CE29-C2A2-27341CD944D4}"/>
              </a:ext>
            </a:extLst>
          </p:cNvPr>
          <p:cNvSpPr txBox="1">
            <a:spLocks/>
          </p:cNvSpPr>
          <p:nvPr/>
        </p:nvSpPr>
        <p:spPr bwMode="auto">
          <a:xfrm>
            <a:off x="504823" y="1009647"/>
            <a:ext cx="9070975"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Survey of Existing Real World Solutions</a:t>
            </a:r>
          </a:p>
          <a:p>
            <a:r>
              <a:rPr lang="en-GB" sz="2000" dirty="0">
                <a:latin typeface="Times New Roman" panose="02020603050405020304" pitchFamily="18" charset="0"/>
                <a:cs typeface="Times New Roman" panose="02020603050405020304" pitchFamily="18" charset="0"/>
              </a:rPr>
              <a:t>Online career </a:t>
            </a:r>
            <a:r>
              <a:rPr lang="en-GB" sz="2000" dirty="0" err="1">
                <a:latin typeface="Times New Roman" panose="02020603050405020304" pitchFamily="18" charset="0"/>
                <a:cs typeface="Times New Roman" panose="02020603050405020304" pitchFamily="18" charset="0"/>
              </a:rPr>
              <a:t>counseling</a:t>
            </a:r>
            <a:r>
              <a:rPr lang="en-GB" sz="2000" dirty="0">
                <a:latin typeface="Times New Roman" panose="02020603050405020304" pitchFamily="18" charset="0"/>
                <a:cs typeface="Times New Roman" panose="02020603050405020304" pitchFamily="18" charset="0"/>
              </a:rPr>
              <a:t> portals provide interest-based career suggestions</a:t>
            </a:r>
          </a:p>
          <a:p>
            <a:r>
              <a:rPr lang="en-GB" sz="2000" dirty="0">
                <a:latin typeface="Times New Roman" panose="02020603050405020304" pitchFamily="18" charset="0"/>
                <a:cs typeface="Times New Roman" panose="02020603050405020304" pitchFamily="18" charset="0"/>
              </a:rPr>
              <a:t>Some disability focused employment platforms provide job listings for persons with disabilities</a:t>
            </a:r>
          </a:p>
          <a:p>
            <a:r>
              <a:rPr lang="en-GB" sz="2000" dirty="0">
                <a:latin typeface="Times New Roman" panose="02020603050405020304" pitchFamily="18" charset="0"/>
                <a:cs typeface="Times New Roman" panose="02020603050405020304" pitchFamily="18" charset="0"/>
              </a:rPr>
              <a:t>AI-based recommendation systems use interest surveys, aptitude scores, and skill profiling</a:t>
            </a:r>
          </a:p>
          <a:p>
            <a:r>
              <a:rPr lang="en-GB" sz="2000" dirty="0">
                <a:latin typeface="Times New Roman" panose="02020603050405020304" pitchFamily="18" charset="0"/>
                <a:cs typeface="Times New Roman" panose="02020603050405020304" pitchFamily="18" charset="0"/>
              </a:rPr>
              <a:t>Limited platforms integrate disability-specific functional ability assessment in recommendation logic</a:t>
            </a:r>
          </a:p>
          <a:p>
            <a:endParaRPr lang="en-GB"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Methodologies Used</a:t>
            </a:r>
          </a:p>
          <a:p>
            <a:r>
              <a:rPr lang="en-IN" sz="2000" dirty="0">
                <a:latin typeface="Times New Roman" panose="02020603050405020304" pitchFamily="18" charset="0"/>
                <a:cs typeface="Times New Roman" panose="02020603050405020304" pitchFamily="18" charset="0"/>
              </a:rPr>
              <a:t>Rule-based expert systems for career matching</a:t>
            </a:r>
          </a:p>
          <a:p>
            <a:r>
              <a:rPr lang="en-IN" sz="2000" dirty="0">
                <a:latin typeface="Times New Roman" panose="02020603050405020304" pitchFamily="18" charset="0"/>
                <a:cs typeface="Times New Roman" panose="02020603050405020304" pitchFamily="18" charset="0"/>
              </a:rPr>
              <a:t>Machine learning classification models </a:t>
            </a:r>
          </a:p>
          <a:p>
            <a:r>
              <a:rPr lang="en-IN" sz="2000" dirty="0">
                <a:latin typeface="Times New Roman" panose="02020603050405020304" pitchFamily="18" charset="0"/>
                <a:cs typeface="Times New Roman" panose="02020603050405020304" pitchFamily="18" charset="0"/>
              </a:rPr>
              <a:t>Psychometric aptitude and interest assessment frameworks</a:t>
            </a:r>
          </a:p>
          <a:p>
            <a:r>
              <a:rPr lang="en-IN" sz="2000" dirty="0">
                <a:latin typeface="Times New Roman" panose="02020603050405020304" pitchFamily="18" charset="0"/>
                <a:cs typeface="Times New Roman" panose="02020603050405020304" pitchFamily="18" charset="0"/>
              </a:rPr>
              <a:t>Accessibility-focused employment database systems</a:t>
            </a:r>
          </a:p>
          <a:p>
            <a:endParaRPr lang="en-GB"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0546AF59-7C84-CE67-6FF8-891124E85C11}"/>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Literature Survey</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CA2745C4-AA80-238F-A178-70E42196A67B}"/>
              </a:ext>
            </a:extLst>
          </p:cNvPr>
          <p:cNvSpPr txBox="1">
            <a:spLocks/>
          </p:cNvSpPr>
          <p:nvPr/>
        </p:nvSpPr>
        <p:spPr bwMode="auto">
          <a:xfrm>
            <a:off x="575816" y="395461"/>
            <a:ext cx="8928992" cy="6984776"/>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Limitations Identified</a:t>
            </a:r>
          </a:p>
          <a:p>
            <a:r>
              <a:rPr lang="en-GB" sz="2000" dirty="0">
                <a:latin typeface="Times New Roman" panose="02020603050405020304" pitchFamily="18" charset="0"/>
                <a:cs typeface="Times New Roman" panose="02020603050405020304" pitchFamily="18" charset="0"/>
              </a:rPr>
              <a:t>Lack of personalized disability centric capability mapping</a:t>
            </a:r>
          </a:p>
          <a:p>
            <a:r>
              <a:rPr lang="en-GB" sz="2000" dirty="0">
                <a:latin typeface="Times New Roman" panose="02020603050405020304" pitchFamily="18" charset="0"/>
                <a:cs typeface="Times New Roman" panose="02020603050405020304" pitchFamily="18" charset="0"/>
              </a:rPr>
              <a:t>Minimal integration of adaptive assessments considering accessibility constraints</a:t>
            </a:r>
          </a:p>
          <a:p>
            <a:r>
              <a:rPr lang="en-GB" sz="2000" dirty="0">
                <a:latin typeface="Times New Roman" panose="02020603050405020304" pitchFamily="18" charset="0"/>
                <a:cs typeface="Times New Roman" panose="02020603050405020304" pitchFamily="18" charset="0"/>
              </a:rPr>
              <a:t>Static career suggestions without continuous adaptive learning</a:t>
            </a:r>
          </a:p>
          <a:p>
            <a:r>
              <a:rPr lang="en-GB" sz="2000" dirty="0">
                <a:latin typeface="Times New Roman" panose="02020603050405020304" pitchFamily="18" charset="0"/>
                <a:cs typeface="Times New Roman" panose="02020603050405020304" pitchFamily="18" charset="0"/>
              </a:rPr>
              <a:t>Limited integration of assistive technology compatibility information</a:t>
            </a:r>
          </a:p>
          <a:p>
            <a:r>
              <a:rPr lang="en-GB" sz="2000" dirty="0">
                <a:latin typeface="Times New Roman" panose="02020603050405020304" pitchFamily="18" charset="0"/>
                <a:cs typeface="Times New Roman" panose="02020603050405020304" pitchFamily="18" charset="0"/>
              </a:rPr>
              <a:t>Fragmented datasets across employment and disability support systems</a:t>
            </a:r>
          </a:p>
        </p:txBody>
      </p:sp>
    </p:spTree>
    <p:extLst>
      <p:ext uri="{BB962C8B-B14F-4D97-AF65-F5344CB8AC3E}">
        <p14:creationId xmlns:p14="http://schemas.microsoft.com/office/powerpoint/2010/main" val="290125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80A6ACC-1EF5-D7F1-A181-CE0467C452E2}"/>
              </a:ext>
            </a:extLst>
          </p:cNvPr>
          <p:cNvGraphicFramePr>
            <a:graphicFrameLocks noGrp="1"/>
          </p:cNvGraphicFramePr>
          <p:nvPr>
            <p:extLst>
              <p:ext uri="{D42A27DB-BD31-4B8C-83A1-F6EECF244321}">
                <p14:modId xmlns:p14="http://schemas.microsoft.com/office/powerpoint/2010/main" val="3143672979"/>
              </p:ext>
            </p:extLst>
          </p:nvPr>
        </p:nvGraphicFramePr>
        <p:xfrm>
          <a:off x="0" y="0"/>
          <a:ext cx="10080625" cy="7576748"/>
        </p:xfrm>
        <a:graphic>
          <a:graphicData uri="http://schemas.openxmlformats.org/drawingml/2006/table">
            <a:tbl>
              <a:tblPr>
                <a:tableStyleId>{69CF1AB2-1976-4502-BF36-3FF5EA218861}</a:tableStyleId>
              </a:tblPr>
              <a:tblGrid>
                <a:gridCol w="2016125">
                  <a:extLst>
                    <a:ext uri="{9D8B030D-6E8A-4147-A177-3AD203B41FA5}">
                      <a16:colId xmlns:a16="http://schemas.microsoft.com/office/drawing/2014/main" val="4059888057"/>
                    </a:ext>
                  </a:extLst>
                </a:gridCol>
                <a:gridCol w="2016125">
                  <a:extLst>
                    <a:ext uri="{9D8B030D-6E8A-4147-A177-3AD203B41FA5}">
                      <a16:colId xmlns:a16="http://schemas.microsoft.com/office/drawing/2014/main" val="1783655490"/>
                    </a:ext>
                  </a:extLst>
                </a:gridCol>
                <a:gridCol w="2016125">
                  <a:extLst>
                    <a:ext uri="{9D8B030D-6E8A-4147-A177-3AD203B41FA5}">
                      <a16:colId xmlns:a16="http://schemas.microsoft.com/office/drawing/2014/main" val="2162467101"/>
                    </a:ext>
                  </a:extLst>
                </a:gridCol>
                <a:gridCol w="2016125">
                  <a:extLst>
                    <a:ext uri="{9D8B030D-6E8A-4147-A177-3AD203B41FA5}">
                      <a16:colId xmlns:a16="http://schemas.microsoft.com/office/drawing/2014/main" val="101794897"/>
                    </a:ext>
                  </a:extLst>
                </a:gridCol>
                <a:gridCol w="2016125">
                  <a:extLst>
                    <a:ext uri="{9D8B030D-6E8A-4147-A177-3AD203B41FA5}">
                      <a16:colId xmlns:a16="http://schemas.microsoft.com/office/drawing/2014/main" val="3453954899"/>
                    </a:ext>
                  </a:extLst>
                </a:gridCol>
              </a:tblGrid>
              <a:tr h="630786">
                <a:tc>
                  <a:txBody>
                    <a:bodyPr/>
                    <a:lstStyle/>
                    <a:p>
                      <a:pPr>
                        <a:buNone/>
                      </a:pPr>
                      <a:r>
                        <a:rPr lang="en-IN" sz="2000">
                          <a:latin typeface="Times New Roman" panose="02020603050405020304" pitchFamily="18" charset="0"/>
                          <a:cs typeface="Times New Roman" panose="02020603050405020304" pitchFamily="18" charset="0"/>
                        </a:rPr>
                        <a:t>Author &amp; Year</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Techniques / Methods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Dataset Used</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Key Results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Limitations</a:t>
                      </a:r>
                    </a:p>
                  </a:txBody>
                  <a:tcPr marL="38260" marR="38260" marT="19130" marB="19130" anchor="ctr"/>
                </a:tc>
                <a:extLst>
                  <a:ext uri="{0D108BD9-81ED-4DB2-BD59-A6C34878D82A}">
                    <a16:rowId xmlns:a16="http://schemas.microsoft.com/office/drawing/2014/main" val="1987629311"/>
                  </a:ext>
                </a:extLst>
              </a:tr>
              <a:tr h="1359675">
                <a:tc>
                  <a:txBody>
                    <a:bodyPr/>
                    <a:lstStyle/>
                    <a:p>
                      <a:pPr>
                        <a:buNone/>
                      </a:pPr>
                      <a:r>
                        <a:rPr lang="en-IN" sz="2000" dirty="0">
                          <a:latin typeface="Times New Roman" panose="02020603050405020304" pitchFamily="18" charset="0"/>
                          <a:cs typeface="Times New Roman" panose="02020603050405020304" pitchFamily="18" charset="0"/>
                        </a:rPr>
                        <a:t>Holland (1997) [1]</a:t>
                      </a:r>
                    </a:p>
                  </a:txBody>
                  <a:tcPr marL="38260" marR="38260" marT="19130" marB="19130" anchor="ctr"/>
                </a:tc>
                <a:tc>
                  <a:txBody>
                    <a:bodyPr/>
                    <a:lstStyle/>
                    <a:p>
                      <a:pPr>
                        <a:buNone/>
                      </a:pPr>
                      <a:r>
                        <a:rPr lang="en-GB" sz="2000" dirty="0">
                          <a:latin typeface="Times New Roman" panose="02020603050405020304" pitchFamily="18" charset="0"/>
                          <a:cs typeface="Times New Roman" panose="02020603050405020304" pitchFamily="18" charset="0"/>
                        </a:rPr>
                        <a:t>Interest-based career matching (RIASEC model)</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Psychometric survey data</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Improved career interest mapping</a:t>
                      </a:r>
                    </a:p>
                  </a:txBody>
                  <a:tcPr marL="38260" marR="38260" marT="19130" marB="19130" anchor="ctr"/>
                </a:tc>
                <a:tc>
                  <a:txBody>
                    <a:bodyPr/>
                    <a:lstStyle/>
                    <a:p>
                      <a:pPr>
                        <a:buNone/>
                      </a:pPr>
                      <a:r>
                        <a:rPr lang="en-GB" sz="2000">
                          <a:latin typeface="Times New Roman" panose="02020603050405020304" pitchFamily="18" charset="0"/>
                          <a:cs typeface="Times New Roman" panose="02020603050405020304" pitchFamily="18" charset="0"/>
                        </a:rPr>
                        <a:t>Does not consider disability-specific abilities</a:t>
                      </a:r>
                    </a:p>
                  </a:txBody>
                  <a:tcPr marL="38260" marR="38260" marT="19130" marB="19130" anchor="ctr"/>
                </a:tc>
                <a:extLst>
                  <a:ext uri="{0D108BD9-81ED-4DB2-BD59-A6C34878D82A}">
                    <a16:rowId xmlns:a16="http://schemas.microsoft.com/office/drawing/2014/main" val="3262060381"/>
                  </a:ext>
                </a:extLst>
              </a:tr>
              <a:tr h="1359675">
                <a:tc>
                  <a:txBody>
                    <a:bodyPr/>
                    <a:lstStyle/>
                    <a:p>
                      <a:pPr>
                        <a:buNone/>
                      </a:pPr>
                      <a:r>
                        <a:rPr lang="da-DK" sz="2000" dirty="0">
                          <a:latin typeface="Times New Roman" panose="02020603050405020304" pitchFamily="18" charset="0"/>
                          <a:cs typeface="Times New Roman" panose="02020603050405020304" pitchFamily="18" charset="0"/>
                        </a:rPr>
                        <a:t>Faliagka et al. (2012) [2]</a:t>
                      </a:r>
                    </a:p>
                  </a:txBody>
                  <a:tcPr marL="38260" marR="38260" marT="19130" marB="19130" anchor="ctr"/>
                </a:tc>
                <a:tc>
                  <a:txBody>
                    <a:bodyPr/>
                    <a:lstStyle/>
                    <a:p>
                      <a:pPr>
                        <a:buNone/>
                      </a:pPr>
                      <a:r>
                        <a:rPr lang="en-IN" sz="2000" dirty="0">
                          <a:latin typeface="Times New Roman" panose="02020603050405020304" pitchFamily="18" charset="0"/>
                          <a:cs typeface="Times New Roman" panose="02020603050405020304" pitchFamily="18" charset="0"/>
                        </a:rPr>
                        <a:t>ML-based job recommendation system</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Resume datasets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Automated candidate-job matching</a:t>
                      </a:r>
                    </a:p>
                  </a:txBody>
                  <a:tcPr marL="38260" marR="38260" marT="19130" marB="19130" anchor="ctr"/>
                </a:tc>
                <a:tc>
                  <a:txBody>
                    <a:bodyPr/>
                    <a:lstStyle/>
                    <a:p>
                      <a:pPr>
                        <a:buNone/>
                      </a:pPr>
                      <a:r>
                        <a:rPr lang="en-GB" sz="2000">
                          <a:latin typeface="Times New Roman" panose="02020603050405020304" pitchFamily="18" charset="0"/>
                          <a:cs typeface="Times New Roman" panose="02020603050405020304" pitchFamily="18" charset="0"/>
                        </a:rPr>
                        <a:t>Generic recommendation; no accessibility features</a:t>
                      </a:r>
                    </a:p>
                  </a:txBody>
                  <a:tcPr marL="38260" marR="38260" marT="19130" marB="19130" anchor="ctr"/>
                </a:tc>
                <a:extLst>
                  <a:ext uri="{0D108BD9-81ED-4DB2-BD59-A6C34878D82A}">
                    <a16:rowId xmlns:a16="http://schemas.microsoft.com/office/drawing/2014/main" val="2886963386"/>
                  </a:ext>
                </a:extLst>
              </a:tr>
              <a:tr h="1224321">
                <a:tc>
                  <a:txBody>
                    <a:bodyPr/>
                    <a:lstStyle/>
                    <a:p>
                      <a:pPr>
                        <a:buNone/>
                      </a:pPr>
                      <a:r>
                        <a:rPr lang="da-DK" sz="2000">
                          <a:latin typeface="Times New Roman" panose="02020603050405020304" pitchFamily="18" charset="0"/>
                          <a:cs typeface="Times New Roman" panose="02020603050405020304" pitchFamily="18" charset="0"/>
                        </a:rPr>
                        <a:t>Bigham et al. (2016) [3]</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Accessibility-focused computing systems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Assistive tech datasets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Improved accessibility support systems</a:t>
                      </a:r>
                    </a:p>
                  </a:txBody>
                  <a:tcPr marL="38260" marR="38260" marT="19130" marB="19130" anchor="ctr"/>
                </a:tc>
                <a:tc>
                  <a:txBody>
                    <a:bodyPr/>
                    <a:lstStyle/>
                    <a:p>
                      <a:pPr>
                        <a:buNone/>
                      </a:pPr>
                      <a:r>
                        <a:rPr lang="en-GB" sz="2000">
                          <a:latin typeface="Times New Roman" panose="02020603050405020304" pitchFamily="18" charset="0"/>
                          <a:cs typeface="Times New Roman" panose="02020603050405020304" pitchFamily="18" charset="0"/>
                        </a:rPr>
                        <a:t>Not focused on career pathway mapping</a:t>
                      </a:r>
                    </a:p>
                  </a:txBody>
                  <a:tcPr marL="38260" marR="38260" marT="19130" marB="19130" anchor="ctr"/>
                </a:tc>
                <a:extLst>
                  <a:ext uri="{0D108BD9-81ED-4DB2-BD59-A6C34878D82A}">
                    <a16:rowId xmlns:a16="http://schemas.microsoft.com/office/drawing/2014/main" val="2757779824"/>
                  </a:ext>
                </a:extLst>
              </a:tr>
              <a:tr h="1359675">
                <a:tc>
                  <a:txBody>
                    <a:bodyPr/>
                    <a:lstStyle/>
                    <a:p>
                      <a:pPr>
                        <a:buNone/>
                      </a:pPr>
                      <a:r>
                        <a:rPr lang="en-GB" sz="2000">
                          <a:latin typeface="Times New Roman" panose="02020603050405020304" pitchFamily="18" charset="0"/>
                          <a:cs typeface="Times New Roman" panose="02020603050405020304" pitchFamily="18" charset="0"/>
                        </a:rPr>
                        <a:t>World Bank Disability Employment Study (2021) [4]</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Employment gap statistical analysis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Global disability employment datasets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Identified employment barriers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No personalized career recommendation model</a:t>
                      </a:r>
                    </a:p>
                  </a:txBody>
                  <a:tcPr marL="38260" marR="38260" marT="19130" marB="19130" anchor="ctr"/>
                </a:tc>
                <a:extLst>
                  <a:ext uri="{0D108BD9-81ED-4DB2-BD59-A6C34878D82A}">
                    <a16:rowId xmlns:a16="http://schemas.microsoft.com/office/drawing/2014/main" val="3942115544"/>
                  </a:ext>
                </a:extLst>
              </a:tr>
              <a:tr h="1625542">
                <a:tc>
                  <a:txBody>
                    <a:bodyPr/>
                    <a:lstStyle/>
                    <a:p>
                      <a:pPr>
                        <a:buNone/>
                      </a:pPr>
                      <a:r>
                        <a:rPr lang="en-IN" sz="2000">
                          <a:latin typeface="Times New Roman" panose="02020603050405020304" pitchFamily="18" charset="0"/>
                          <a:cs typeface="Times New Roman" panose="02020603050405020304" pitchFamily="18" charset="0"/>
                        </a:rPr>
                        <a:t>ILO Disability Inclusion Report (2022) [5]</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Labor market analysis methods</a:t>
                      </a:r>
                    </a:p>
                  </a:txBody>
                  <a:tcPr marL="38260" marR="38260" marT="19130" marB="19130" anchor="ctr"/>
                </a:tc>
                <a:tc>
                  <a:txBody>
                    <a:bodyPr/>
                    <a:lstStyle/>
                    <a:p>
                      <a:pPr>
                        <a:buNone/>
                      </a:pPr>
                      <a:r>
                        <a:rPr lang="en-IN" sz="2000">
                          <a:latin typeface="Times New Roman" panose="02020603050405020304" pitchFamily="18" charset="0"/>
                          <a:cs typeface="Times New Roman" panose="02020603050405020304" pitchFamily="18" charset="0"/>
                        </a:rPr>
                        <a:t>Workforce inclusion datasets</a:t>
                      </a:r>
                    </a:p>
                  </a:txBody>
                  <a:tcPr marL="38260" marR="38260" marT="19130" marB="19130" anchor="ctr"/>
                </a:tc>
                <a:tc>
                  <a:txBody>
                    <a:bodyPr/>
                    <a:lstStyle/>
                    <a:p>
                      <a:pPr>
                        <a:buNone/>
                      </a:pPr>
                      <a:r>
                        <a:rPr lang="en-IN" sz="2000" dirty="0">
                          <a:latin typeface="Times New Roman" panose="02020603050405020304" pitchFamily="18" charset="0"/>
                          <a:cs typeface="Times New Roman" panose="02020603050405020304" pitchFamily="18" charset="0"/>
                        </a:rPr>
                        <a:t>Highlighted employment inequality</a:t>
                      </a:r>
                    </a:p>
                  </a:txBody>
                  <a:tcPr marL="38260" marR="38260" marT="19130" marB="19130" anchor="ctr"/>
                </a:tc>
                <a:tc>
                  <a:txBody>
                    <a:bodyPr/>
                    <a:lstStyle/>
                    <a:p>
                      <a:pPr>
                        <a:buNone/>
                      </a:pPr>
                      <a:r>
                        <a:rPr lang="en-GB" sz="2000" dirty="0">
                          <a:latin typeface="Times New Roman" panose="02020603050405020304" pitchFamily="18" charset="0"/>
                          <a:cs typeface="Times New Roman" panose="02020603050405020304" pitchFamily="18" charset="0"/>
                        </a:rPr>
                        <a:t>No technology-based adaptive guidance solutions</a:t>
                      </a:r>
                    </a:p>
                  </a:txBody>
                  <a:tcPr marL="38260" marR="38260" marT="19130" marB="19130" anchor="ctr"/>
                </a:tc>
                <a:extLst>
                  <a:ext uri="{0D108BD9-81ED-4DB2-BD59-A6C34878D82A}">
                    <a16:rowId xmlns:a16="http://schemas.microsoft.com/office/drawing/2014/main" val="427624977"/>
                  </a:ext>
                </a:extLst>
              </a:tr>
            </a:tbl>
          </a:graphicData>
        </a:graphic>
      </p:graphicFrame>
    </p:spTree>
    <p:extLst>
      <p:ext uri="{BB962C8B-B14F-4D97-AF65-F5344CB8AC3E}">
        <p14:creationId xmlns:p14="http://schemas.microsoft.com/office/powerpoint/2010/main" val="755501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34FA7B24-B804-025A-6ED4-EEDD4815A89A}"/>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82EB353-F52C-6A74-17E2-2D0E22619FC9}"/>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Limitation of Existing System</a:t>
            </a:r>
          </a:p>
        </p:txBody>
      </p:sp>
      <p:sp>
        <p:nvSpPr>
          <p:cNvPr id="4" name="Content Placeholder 2">
            <a:extLst>
              <a:ext uri="{FF2B5EF4-FFF2-40B4-BE49-F238E27FC236}">
                <a16:creationId xmlns:a16="http://schemas.microsoft.com/office/drawing/2014/main" id="{4C5B9875-2C1E-F91B-1038-F9764ADA8312}"/>
              </a:ext>
            </a:extLst>
          </p:cNvPr>
          <p:cNvSpPr txBox="1">
            <a:spLocks/>
          </p:cNvSpPr>
          <p:nvPr/>
        </p:nvSpPr>
        <p:spPr bwMode="auto">
          <a:xfrm>
            <a:off x="504823" y="1009647"/>
            <a:ext cx="8063881"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latin typeface="Times New Roman" panose="02020603050405020304" pitchFamily="18" charset="0"/>
                <a:cs typeface="Times New Roman" panose="02020603050405020304" pitchFamily="18" charset="0"/>
              </a:rPr>
              <a:t>Existing career recommendation systems are not disability-centric and ignore functional ability variations</a:t>
            </a:r>
          </a:p>
          <a:p>
            <a:r>
              <a:rPr lang="en-GB" sz="2000" dirty="0">
                <a:latin typeface="Times New Roman" panose="02020603050405020304" pitchFamily="18" charset="0"/>
                <a:cs typeface="Times New Roman" panose="02020603050405020304" pitchFamily="18" charset="0"/>
              </a:rPr>
              <a:t>Lack of integrated platforms combining adaptive assessment with career pathway recommendation</a:t>
            </a:r>
          </a:p>
          <a:p>
            <a:r>
              <a:rPr lang="en-GB" sz="2000" dirty="0">
                <a:latin typeface="Times New Roman" panose="02020603050405020304" pitchFamily="18" charset="0"/>
                <a:cs typeface="Times New Roman" panose="02020603050405020304" pitchFamily="18" charset="0"/>
              </a:rPr>
              <a:t>Absence of personalized adaptive recommendation frameworks that update based on user performance and feedback</a:t>
            </a:r>
          </a:p>
          <a:p>
            <a:r>
              <a:rPr lang="en-GB" sz="2000" dirty="0">
                <a:latin typeface="Times New Roman" panose="02020603050405020304" pitchFamily="18" charset="0"/>
                <a:cs typeface="Times New Roman" panose="02020603050405020304" pitchFamily="18" charset="0"/>
              </a:rPr>
              <a:t>Limited availability of structured datasets containing disability-inclusive career requirements and accessibility constraints</a:t>
            </a:r>
          </a:p>
          <a:p>
            <a:r>
              <a:rPr lang="en-GB" sz="2000" dirty="0">
                <a:latin typeface="Times New Roman" panose="02020603050405020304" pitchFamily="18" charset="0"/>
                <a:cs typeface="Times New Roman" panose="02020603050405020304" pitchFamily="18" charset="0"/>
              </a:rPr>
              <a:t>Existing employment portals provide job listings but not structured career pathway guidance</a:t>
            </a:r>
          </a:p>
          <a:p>
            <a:r>
              <a:rPr lang="en-GB" sz="2000" dirty="0">
                <a:latin typeface="Times New Roman" panose="02020603050405020304" pitchFamily="18" charset="0"/>
                <a:cs typeface="Times New Roman" panose="02020603050405020304" pitchFamily="18" charset="0"/>
              </a:rPr>
              <a:t>Minimal use of hybrid rule-based + machine learning models for inclusive decision-support systems</a:t>
            </a:r>
          </a:p>
          <a:p>
            <a:r>
              <a:rPr lang="en-GB" sz="2000" dirty="0">
                <a:latin typeface="Times New Roman" panose="02020603050405020304" pitchFamily="18" charset="0"/>
                <a:cs typeface="Times New Roman" panose="02020603050405020304" pitchFamily="18" charset="0"/>
              </a:rPr>
              <a:t>Lack of assistive technology compatibility mapping within career recommendation systems</a:t>
            </a:r>
          </a:p>
          <a:p>
            <a:endParaRPr lang="en-GB" sz="20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7C27B08C-54E2-A76C-9972-F54424760C16}"/>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Problem Statement and Objective</a:t>
            </a:r>
          </a:p>
        </p:txBody>
      </p:sp>
      <p:sp>
        <p:nvSpPr>
          <p:cNvPr id="6" name="Content Placeholder 2">
            <a:extLst>
              <a:ext uri="{FF2B5EF4-FFF2-40B4-BE49-F238E27FC236}">
                <a16:creationId xmlns:a16="http://schemas.microsoft.com/office/drawing/2014/main" id="{2BDB961A-B53C-D0AE-9CE0-5582BBFCE36D}"/>
              </a:ext>
            </a:extLst>
          </p:cNvPr>
          <p:cNvSpPr txBox="1">
            <a:spLocks/>
          </p:cNvSpPr>
          <p:nvPr/>
        </p:nvSpPr>
        <p:spPr bwMode="auto">
          <a:xfrm>
            <a:off x="504823" y="1009647"/>
            <a:ext cx="9070975"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defTabSz="914400">
              <a:buNone/>
              <a:defRPr/>
            </a:pPr>
            <a:r>
              <a:rPr lang="en-GB" sz="2000" dirty="0">
                <a:latin typeface="Times New Roman" panose="02020603050405020304" pitchFamily="18" charset="0"/>
                <a:cs typeface="Times New Roman" panose="02020603050405020304" pitchFamily="18" charset="0"/>
              </a:rPr>
              <a:t>Differently-abled individuals often lack access to inclusive career guidance systems that consider their functional abilities, accessibility needs, skills, and interests. Existing platforms rely on generic assessments and do not provide disability-specific personalized career recommendations, leading to career mismatch and limited employment opportunities. Therefore, there is a need for an adaptive, accessibility-aware career recommendation platform that delivers personalized, capability-based career pathway guidance</a:t>
            </a:r>
            <a:endParaRPr lang="en-GB" altLang="en-US" sz="2000" dirty="0">
              <a:latin typeface="Times New Roman" panose="02020603050405020304" pitchFamily="18" charset="0"/>
              <a:cs typeface="Times New Roman" panose="02020603050405020304" pitchFamily="18" charset="0"/>
            </a:endParaRPr>
          </a:p>
          <a:p>
            <a:pPr marL="0" indent="0">
              <a:buClr>
                <a:schemeClr val="tx1"/>
              </a:buClr>
              <a:buNone/>
            </a:pPr>
            <a:r>
              <a:rPr lang="en-GB" sz="2000" b="1" dirty="0">
                <a:latin typeface="Times New Roman" panose="02020603050405020304" pitchFamily="18" charset="0"/>
                <a:cs typeface="Times New Roman" panose="02020603050405020304" pitchFamily="18" charset="0"/>
              </a:rPr>
              <a:t>Objectives</a:t>
            </a:r>
          </a:p>
          <a:p>
            <a:pPr>
              <a:buClr>
                <a:schemeClr val="tx1"/>
              </a:buClr>
            </a:pPr>
            <a:r>
              <a:rPr lang="en-GB" sz="2000" dirty="0">
                <a:latin typeface="Times New Roman" panose="02020603050405020304" pitchFamily="18" charset="0"/>
                <a:cs typeface="Times New Roman" panose="02020603050405020304" pitchFamily="18" charset="0"/>
              </a:rPr>
              <a:t>Design an adaptive assessment framework to evaluate functional abilities, interests, and skills</a:t>
            </a:r>
          </a:p>
          <a:p>
            <a:pPr>
              <a:buClr>
                <a:schemeClr val="tx1"/>
              </a:buClr>
            </a:pPr>
            <a:r>
              <a:rPr lang="en-GB" sz="2000" dirty="0">
                <a:latin typeface="Times New Roman" panose="02020603050405020304" pitchFamily="18" charset="0"/>
                <a:cs typeface="Times New Roman" panose="02020603050405020304" pitchFamily="18" charset="0"/>
              </a:rPr>
              <a:t>Build a disability-inclusive career opportunity and skill requirement database</a:t>
            </a:r>
          </a:p>
          <a:p>
            <a:pPr>
              <a:buClr>
                <a:schemeClr val="tx1"/>
              </a:buClr>
            </a:pPr>
            <a:r>
              <a:rPr lang="en-GB" sz="2000" dirty="0">
                <a:latin typeface="Times New Roman" panose="02020603050405020304" pitchFamily="18" charset="0"/>
                <a:cs typeface="Times New Roman" panose="02020603050405020304" pitchFamily="18" charset="0"/>
              </a:rPr>
              <a:t>Provide accessible user interfaces and decision-support dashboards for individuals and support organizations</a:t>
            </a:r>
          </a:p>
          <a:p>
            <a:pPr>
              <a:buClr>
                <a:schemeClr val="tx1"/>
              </a:buClr>
            </a:pPr>
            <a:r>
              <a:rPr lang="en-GB" sz="2000" dirty="0">
                <a:latin typeface="Times New Roman" panose="02020603050405020304" pitchFamily="18" charset="0"/>
                <a:cs typeface="Times New Roman" panose="02020603050405020304" pitchFamily="18" charset="0"/>
              </a:rPr>
              <a:t>Promote inclusive employability and equal opportunity participation through technology-driven guidance systems</a:t>
            </a:r>
          </a:p>
          <a:p>
            <a:pPr marL="0" indent="0" algn="just" defTabSz="914400">
              <a:buNone/>
              <a:defRPr/>
            </a:pPr>
            <a:endParaRPr lang="en-GB"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059A70A5-C50A-92C1-D511-390DF59119C4}"/>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B58F3398-FEDD-BA64-A9BB-6D657628F841}"/>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Solution </a:t>
            </a:r>
          </a:p>
        </p:txBody>
      </p:sp>
      <p:sp>
        <p:nvSpPr>
          <p:cNvPr id="5" name="Content Placeholder 2">
            <a:extLst>
              <a:ext uri="{FF2B5EF4-FFF2-40B4-BE49-F238E27FC236}">
                <a16:creationId xmlns:a16="http://schemas.microsoft.com/office/drawing/2014/main" id="{7605CF92-DFBF-200C-A424-118941394A78}"/>
              </a:ext>
            </a:extLst>
          </p:cNvPr>
          <p:cNvSpPr txBox="1">
            <a:spLocks/>
          </p:cNvSpPr>
          <p:nvPr/>
        </p:nvSpPr>
        <p:spPr bwMode="auto">
          <a:xfrm>
            <a:off x="504823" y="1009647"/>
            <a:ext cx="9070975"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chemeClr val="tx1"/>
              </a:buClr>
            </a:pPr>
            <a:r>
              <a:rPr lang="en-GB" sz="2000" dirty="0">
                <a:latin typeface="Times New Roman" panose="02020603050405020304" pitchFamily="18" charset="0"/>
                <a:cs typeface="Times New Roman" panose="02020603050405020304" pitchFamily="18" charset="0"/>
              </a:rPr>
              <a:t>Develop an adaptive career guidance platform designed specifically for differently abled individuals</a:t>
            </a:r>
          </a:p>
          <a:p>
            <a:pPr>
              <a:buClr>
                <a:schemeClr val="tx1"/>
              </a:buClr>
            </a:pPr>
            <a:r>
              <a:rPr lang="en-GB" sz="2000" dirty="0">
                <a:latin typeface="Times New Roman" panose="02020603050405020304" pitchFamily="18" charset="0"/>
                <a:cs typeface="Times New Roman" panose="02020603050405020304" pitchFamily="18" charset="0"/>
              </a:rPr>
              <a:t>Collect user details, disability category, skills, and interests through an accessible interface</a:t>
            </a:r>
          </a:p>
          <a:p>
            <a:pPr>
              <a:buClr>
                <a:schemeClr val="tx1"/>
              </a:buClr>
            </a:pPr>
            <a:r>
              <a:rPr lang="en-GB" sz="2000" dirty="0">
                <a:latin typeface="Times New Roman" panose="02020603050405020304" pitchFamily="18" charset="0"/>
                <a:cs typeface="Times New Roman" panose="02020603050405020304" pitchFamily="18" charset="0"/>
              </a:rPr>
              <a:t>Conduct disability-specific adaptive assessments to evaluate functional abilities and capabilities</a:t>
            </a:r>
          </a:p>
          <a:p>
            <a:pPr>
              <a:buClr>
                <a:schemeClr val="tx1"/>
              </a:buClr>
            </a:pPr>
            <a:r>
              <a:rPr lang="en-GB" sz="2000" dirty="0">
                <a:latin typeface="Times New Roman" panose="02020603050405020304" pitchFamily="18" charset="0"/>
                <a:cs typeface="Times New Roman" panose="02020603050405020304" pitchFamily="18" charset="0"/>
              </a:rPr>
              <a:t>Generate capability profiles using weighted scoring methods</a:t>
            </a:r>
          </a:p>
          <a:p>
            <a:pPr>
              <a:buClr>
                <a:schemeClr val="tx1"/>
              </a:buClr>
            </a:pPr>
            <a:r>
              <a:rPr lang="en-GB" sz="2000" dirty="0">
                <a:latin typeface="Times New Roman" panose="02020603050405020304" pitchFamily="18" charset="0"/>
                <a:cs typeface="Times New Roman" panose="02020603050405020304" pitchFamily="18" charset="0"/>
              </a:rPr>
              <a:t>Apply rule-based eligibility filtering to remove careers not matching accessibility requirements</a:t>
            </a:r>
          </a:p>
          <a:p>
            <a:pPr>
              <a:buClr>
                <a:schemeClr val="tx1"/>
              </a:buClr>
            </a:pPr>
            <a:r>
              <a:rPr lang="en-GB" sz="2000" dirty="0">
                <a:latin typeface="Times New Roman" panose="02020603050405020304" pitchFamily="18" charset="0"/>
                <a:cs typeface="Times New Roman" panose="02020603050405020304" pitchFamily="18" charset="0"/>
              </a:rPr>
              <a:t>Use a machine learning recommendation engine to generate ranked personalized career pathways</a:t>
            </a:r>
          </a:p>
          <a:p>
            <a:pPr>
              <a:buClr>
                <a:schemeClr val="tx1"/>
              </a:buClr>
            </a:pPr>
            <a:r>
              <a:rPr lang="en-GB" sz="2000" dirty="0">
                <a:latin typeface="Times New Roman" panose="02020603050405020304" pitchFamily="18" charset="0"/>
                <a:cs typeface="Times New Roman" panose="02020603050405020304" pitchFamily="18" charset="0"/>
              </a:rPr>
              <a:t>Provide career roadmaps, required skills, and training suggestions through user dashboards</a:t>
            </a:r>
          </a:p>
          <a:p>
            <a:pPr>
              <a:buClr>
                <a:schemeClr val="tx1"/>
              </a:buClr>
            </a:pPr>
            <a:r>
              <a:rPr lang="en-GB" sz="2000" dirty="0">
                <a:latin typeface="Times New Roman" panose="02020603050405020304" pitchFamily="18" charset="0"/>
                <a:cs typeface="Times New Roman" panose="02020603050405020304" pitchFamily="18" charset="0"/>
              </a:rPr>
              <a:t>Maintain integrated databases for user profiles, assessments, career requirements, and recommendations</a:t>
            </a:r>
          </a:p>
          <a:p>
            <a:pPr algn="just" defTabSz="914400">
              <a:buClr>
                <a:schemeClr val="tx1"/>
              </a:buClr>
              <a:defRPr/>
            </a:pPr>
            <a:endParaRPr lang="en-GB" altLang="en-US" sz="20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B4584B-7B20-7743-9479-882E09131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356" y="997244"/>
            <a:ext cx="10759336" cy="6562431"/>
          </a:xfrm>
          <a:prstGeom prst="rect">
            <a:avLst/>
          </a:prstGeom>
        </p:spPr>
      </p:pic>
      <p:sp>
        <p:nvSpPr>
          <p:cNvPr id="6" name="Parallelogram 5">
            <a:extLst>
              <a:ext uri="{FF2B5EF4-FFF2-40B4-BE49-F238E27FC236}">
                <a16:creationId xmlns:a16="http://schemas.microsoft.com/office/drawing/2014/main" id="{4AC91F17-1F36-D6DA-BC7A-D2B11DA82FD6}"/>
              </a:ext>
            </a:extLst>
          </p:cNvPr>
          <p:cNvSpPr/>
          <p:nvPr/>
        </p:nvSpPr>
        <p:spPr>
          <a:xfrm>
            <a:off x="8640712" y="6876181"/>
            <a:ext cx="1584176" cy="432048"/>
          </a:xfrm>
          <a:prstGeom prst="parallelogram">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ontent Placeholder 2">
            <a:extLst>
              <a:ext uri="{FF2B5EF4-FFF2-40B4-BE49-F238E27FC236}">
                <a16:creationId xmlns:a16="http://schemas.microsoft.com/office/drawing/2014/main" id="{4EB48323-2996-0C2C-4C04-E87163B5881B}"/>
              </a:ext>
            </a:extLst>
          </p:cNvPr>
          <p:cNvSpPr>
            <a:spLocks noGrp="1"/>
          </p:cNvSpPr>
          <p:nvPr>
            <p:ph idx="1"/>
          </p:nvPr>
        </p:nvSpPr>
        <p:spPr>
          <a:xfrm>
            <a:off x="299925" y="395461"/>
            <a:ext cx="9480773" cy="494352"/>
          </a:xfrm>
        </p:spPr>
        <p:txBody>
          <a:bodyPr/>
          <a:lstStyle/>
          <a:p>
            <a:pPr marL="0" indent="0">
              <a:buClr>
                <a:schemeClr val="tx1"/>
              </a:buClr>
              <a:buNone/>
            </a:pPr>
            <a:r>
              <a:rPr lang="en-GB" sz="2000" b="1" dirty="0">
                <a:latin typeface="Times New Roman" panose="02020603050405020304" pitchFamily="18" charset="0"/>
                <a:cs typeface="Times New Roman" panose="02020603050405020304" pitchFamily="18" charset="0"/>
              </a:rPr>
              <a:t>Flow Chart</a:t>
            </a:r>
          </a:p>
        </p:txBody>
      </p:sp>
    </p:spTree>
    <p:extLst>
      <p:ext uri="{BB962C8B-B14F-4D97-AF65-F5344CB8AC3E}">
        <p14:creationId xmlns:p14="http://schemas.microsoft.com/office/powerpoint/2010/main" val="3650490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4733A-EC65-DDB4-4C07-754CE62B49D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DB73E1B-93C5-5151-FFF8-7D2B2A2E0423}"/>
              </a:ext>
            </a:extLst>
          </p:cNvPr>
          <p:cNvSpPr>
            <a:spLocks noGrp="1"/>
          </p:cNvSpPr>
          <p:nvPr>
            <p:ph idx="1"/>
          </p:nvPr>
        </p:nvSpPr>
        <p:spPr>
          <a:xfrm>
            <a:off x="215776" y="892334"/>
            <a:ext cx="9480773" cy="494352"/>
          </a:xfrm>
        </p:spPr>
        <p:txBody>
          <a:bodyPr/>
          <a:lstStyle/>
          <a:p>
            <a:pPr marL="0" indent="0">
              <a:buClr>
                <a:schemeClr val="tx1"/>
              </a:buClr>
              <a:buNone/>
            </a:pPr>
            <a:r>
              <a:rPr lang="en-GB" sz="2000" b="1" dirty="0">
                <a:latin typeface="Times New Roman" panose="02020603050405020304" pitchFamily="18" charset="0"/>
                <a:cs typeface="Times New Roman" panose="02020603050405020304" pitchFamily="18" charset="0"/>
              </a:rPr>
              <a:t>Proposed System Architecture</a:t>
            </a:r>
          </a:p>
        </p:txBody>
      </p:sp>
      <p:pic>
        <p:nvPicPr>
          <p:cNvPr id="3" name="Picture 2">
            <a:extLst>
              <a:ext uri="{FF2B5EF4-FFF2-40B4-BE49-F238E27FC236}">
                <a16:creationId xmlns:a16="http://schemas.microsoft.com/office/drawing/2014/main" id="{3ECF1D79-F61E-FAED-4546-70C898CD2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8" y="1763614"/>
            <a:ext cx="10224888" cy="4406803"/>
          </a:xfrm>
          <a:prstGeom prst="rect">
            <a:avLst/>
          </a:prstGeom>
        </p:spPr>
      </p:pic>
      <p:sp>
        <p:nvSpPr>
          <p:cNvPr id="6" name="Parallelogram 5">
            <a:extLst>
              <a:ext uri="{FF2B5EF4-FFF2-40B4-BE49-F238E27FC236}">
                <a16:creationId xmlns:a16="http://schemas.microsoft.com/office/drawing/2014/main" id="{AF4F65E4-0728-A2BA-BACD-5B58CDE43455}"/>
              </a:ext>
            </a:extLst>
          </p:cNvPr>
          <p:cNvSpPr/>
          <p:nvPr/>
        </p:nvSpPr>
        <p:spPr>
          <a:xfrm>
            <a:off x="8784728" y="5292005"/>
            <a:ext cx="1584176" cy="504056"/>
          </a:xfrm>
          <a:prstGeom prst="parallelogram">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905107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5F1EF-BD54-5D52-CE87-11361DCC2116}"/>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90B3432-DC27-255A-B9B1-3BCE0132AC3B}"/>
              </a:ext>
            </a:extLst>
          </p:cNvPr>
          <p:cNvSpPr txBox="1">
            <a:spLocks/>
          </p:cNvSpPr>
          <p:nvPr/>
        </p:nvSpPr>
        <p:spPr bwMode="auto">
          <a:xfrm>
            <a:off x="575816" y="179437"/>
            <a:ext cx="8928992" cy="6984776"/>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Difference from Existing Solutions </a:t>
            </a:r>
          </a:p>
          <a:p>
            <a:r>
              <a:rPr lang="en-GB" sz="2000" dirty="0">
                <a:latin typeface="Times New Roman" panose="02020603050405020304" pitchFamily="18" charset="0"/>
                <a:cs typeface="Times New Roman" panose="02020603050405020304" pitchFamily="18" charset="0"/>
              </a:rPr>
              <a:t>Provides disability-specific adaptive assessments, unlike generic interest-based systems</a:t>
            </a:r>
          </a:p>
          <a:p>
            <a:r>
              <a:rPr lang="en-GB" sz="2000" dirty="0">
                <a:latin typeface="Times New Roman" panose="02020603050405020304" pitchFamily="18" charset="0"/>
                <a:cs typeface="Times New Roman" panose="02020603050405020304" pitchFamily="18" charset="0"/>
              </a:rPr>
              <a:t>Implements hybrid Rule-Based recommendation framework instead of single-method approaches</a:t>
            </a:r>
          </a:p>
          <a:p>
            <a:r>
              <a:rPr lang="en-GB" sz="2000" dirty="0">
                <a:latin typeface="Times New Roman" panose="02020603050405020304" pitchFamily="18" charset="0"/>
                <a:cs typeface="Times New Roman" panose="02020603050405020304" pitchFamily="18" charset="0"/>
              </a:rPr>
              <a:t>Includes accessibility-aware career eligibility filtering before recommendation</a:t>
            </a:r>
          </a:p>
          <a:p>
            <a:r>
              <a:rPr lang="en-GB" sz="2000" dirty="0">
                <a:latin typeface="Times New Roman" panose="02020603050405020304" pitchFamily="18" charset="0"/>
                <a:cs typeface="Times New Roman" panose="02020603050405020304" pitchFamily="18" charset="0"/>
              </a:rPr>
              <a:t>Maintains structured disability-inclusive career and accessibility requirement database</a:t>
            </a:r>
          </a:p>
          <a:p>
            <a:r>
              <a:rPr lang="en-GB" sz="2000" dirty="0">
                <a:latin typeface="Times New Roman" panose="02020603050405020304" pitchFamily="18" charset="0"/>
                <a:cs typeface="Times New Roman" panose="02020603050405020304" pitchFamily="18" charset="0"/>
              </a:rPr>
              <a:t>Supports continuous recommendation updating based on user performance and feedback</a:t>
            </a:r>
          </a:p>
        </p:txBody>
      </p:sp>
    </p:spTree>
    <p:extLst>
      <p:ext uri="{BB962C8B-B14F-4D97-AF65-F5344CB8AC3E}">
        <p14:creationId xmlns:p14="http://schemas.microsoft.com/office/powerpoint/2010/main" val="1162712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8952-E6A7-BA4E-D351-093726DA8862}"/>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ADDDDEB0-3D49-CAF6-1AC6-057F73AB9338}"/>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5775F192-05AE-A2D1-98B4-7E9FC9A1C190}"/>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Experimental Setup</a:t>
            </a:r>
            <a:endParaRPr lang="en-IN" sz="3600" b="1" dirty="0">
              <a:effectLst>
                <a:outerShdw blurRad="38100" dist="38100" dir="2700000" algn="tl">
                  <a:srgbClr val="000000">
                    <a:alpha val="43137"/>
                  </a:srgbClr>
                </a:outerShdw>
              </a:effectLst>
            </a:endParaRPr>
          </a:p>
        </p:txBody>
      </p:sp>
      <p:sp>
        <p:nvSpPr>
          <p:cNvPr id="5" name="Content Placeholder 2">
            <a:extLst>
              <a:ext uri="{FF2B5EF4-FFF2-40B4-BE49-F238E27FC236}">
                <a16:creationId xmlns:a16="http://schemas.microsoft.com/office/drawing/2014/main" id="{D955AC9E-B75A-8E12-A2B9-D84E3E564CBE}"/>
              </a:ext>
            </a:extLst>
          </p:cNvPr>
          <p:cNvSpPr txBox="1">
            <a:spLocks/>
          </p:cNvSpPr>
          <p:nvPr/>
        </p:nvSpPr>
        <p:spPr bwMode="auto">
          <a:xfrm>
            <a:off x="504823" y="1009647"/>
            <a:ext cx="9070975"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chemeClr val="tx1"/>
              </a:buClr>
              <a:buNone/>
            </a:pPr>
            <a:r>
              <a:rPr lang="en-IN" sz="2000" b="1" dirty="0">
                <a:latin typeface="Times New Roman" panose="02020603050405020304" pitchFamily="18" charset="0"/>
                <a:cs typeface="Times New Roman" panose="02020603050405020304" pitchFamily="18" charset="0"/>
              </a:rPr>
              <a:t>Input / Dataset Details</a:t>
            </a:r>
          </a:p>
          <a:p>
            <a:pPr>
              <a:buClr>
                <a:schemeClr val="tx1"/>
              </a:buClr>
            </a:pPr>
            <a:r>
              <a:rPr lang="en-IN" sz="2000" dirty="0">
                <a:latin typeface="Times New Roman" panose="02020603050405020304" pitchFamily="18" charset="0"/>
                <a:cs typeface="Times New Roman" panose="02020603050405020304" pitchFamily="18" charset="0"/>
              </a:rPr>
              <a:t>Gesture recognition dataset with 5 gesture classes: YES, NO, REPEAT, SKIP, IDLE</a:t>
            </a:r>
          </a:p>
          <a:p>
            <a:pPr>
              <a:buClr>
                <a:schemeClr val="tx1"/>
              </a:buClr>
            </a:pPr>
            <a:r>
              <a:rPr lang="en-IN" sz="2000" dirty="0">
                <a:latin typeface="Times New Roman" panose="02020603050405020304" pitchFamily="18" charset="0"/>
                <a:cs typeface="Times New Roman" panose="02020603050405020304" pitchFamily="18" charset="0"/>
              </a:rPr>
              <a:t>~700 samples collected per gesture under different lighting conditions and hand orientations</a:t>
            </a:r>
          </a:p>
          <a:p>
            <a:pPr>
              <a:buClr>
                <a:schemeClr val="tx1"/>
              </a:buClr>
            </a:pPr>
            <a:r>
              <a:rPr lang="en-IN" sz="2000" dirty="0">
                <a:latin typeface="Times New Roman" panose="02020603050405020304" pitchFamily="18" charset="0"/>
                <a:cs typeface="Times New Roman" panose="02020603050405020304" pitchFamily="18" charset="0"/>
              </a:rPr>
              <a:t>Gesture features extracted using </a:t>
            </a:r>
            <a:r>
              <a:rPr lang="en-IN" sz="2000" dirty="0" err="1">
                <a:latin typeface="Times New Roman" panose="02020603050405020304" pitchFamily="18" charset="0"/>
                <a:cs typeface="Times New Roman" panose="02020603050405020304" pitchFamily="18" charset="0"/>
              </a:rPr>
              <a:t>MediaPipe</a:t>
            </a:r>
            <a:r>
              <a:rPr lang="en-IN" sz="2000" dirty="0">
                <a:latin typeface="Times New Roman" panose="02020603050405020304" pitchFamily="18" charset="0"/>
                <a:cs typeface="Times New Roman" panose="02020603050405020304" pitchFamily="18" charset="0"/>
              </a:rPr>
              <a:t> 21 hand landmark points (42 features)</a:t>
            </a:r>
          </a:p>
          <a:p>
            <a:pPr>
              <a:buClr>
                <a:schemeClr val="tx1"/>
              </a:buClr>
            </a:pPr>
            <a:r>
              <a:rPr lang="en-IN" sz="2000" dirty="0">
                <a:latin typeface="Times New Roman" panose="02020603050405020304" pitchFamily="18" charset="0"/>
                <a:cs typeface="Times New Roman" panose="02020603050405020304" pitchFamily="18" charset="0"/>
              </a:rPr>
              <a:t>Data preprocessing: landmark normalization, scaling, temporal smoothing (7-frame window)</a:t>
            </a:r>
          </a:p>
          <a:p>
            <a:pPr>
              <a:buClr>
                <a:schemeClr val="tx1"/>
              </a:buClr>
            </a:pPr>
            <a:r>
              <a:rPr lang="en-IN" sz="2000" dirty="0">
                <a:latin typeface="Times New Roman" panose="02020603050405020304" pitchFamily="18" charset="0"/>
                <a:cs typeface="Times New Roman" panose="02020603050405020304" pitchFamily="18" charset="0"/>
              </a:rPr>
              <a:t>Assessment workflow dataset includes user profile data, adaptive questionnaire responses, and capability scores</a:t>
            </a:r>
          </a:p>
          <a:p>
            <a:pPr marL="0" indent="0">
              <a:buNone/>
            </a:pPr>
            <a:endParaRPr lang="en-GB" sz="2000" b="1"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Performance Evaluation Parameters</a:t>
            </a:r>
          </a:p>
          <a:p>
            <a:r>
              <a:rPr lang="en-GB" sz="2000" dirty="0">
                <a:latin typeface="Times New Roman" panose="02020603050405020304" pitchFamily="18" charset="0"/>
                <a:cs typeface="Times New Roman" panose="02020603050405020304" pitchFamily="18" charset="0"/>
              </a:rPr>
              <a:t>Gesture recognition Accuracy, Precision, Recall</a:t>
            </a:r>
          </a:p>
          <a:p>
            <a:r>
              <a:rPr lang="en-GB" sz="2000" dirty="0">
                <a:latin typeface="Times New Roman" panose="02020603050405020304" pitchFamily="18" charset="0"/>
                <a:cs typeface="Times New Roman" panose="02020603050405020304" pitchFamily="18" charset="0"/>
              </a:rPr>
              <a:t>Detection latency (gesture prediction response time)</a:t>
            </a:r>
          </a:p>
          <a:p>
            <a:r>
              <a:rPr lang="en-GB" sz="2000" dirty="0">
                <a:latin typeface="Times New Roman" panose="02020603050405020304" pitchFamily="18" charset="0"/>
                <a:cs typeface="Times New Roman" panose="02020603050405020304" pitchFamily="18" charset="0"/>
              </a:rPr>
              <a:t>Audio triggering delay and audio continuity performance</a:t>
            </a:r>
          </a:p>
          <a:p>
            <a:r>
              <a:rPr lang="en-GB" sz="2000" dirty="0">
                <a:latin typeface="Times New Roman" panose="02020603050405020304" pitchFamily="18" charset="0"/>
                <a:cs typeface="Times New Roman" panose="02020603050405020304" pitchFamily="18" charset="0"/>
              </a:rPr>
              <a:t>System workflow completion time (assessment start to recommendation generation)</a:t>
            </a:r>
          </a:p>
          <a:p>
            <a:r>
              <a:rPr lang="en-GB" sz="2000" dirty="0">
                <a:latin typeface="Times New Roman" panose="02020603050405020304" pitchFamily="18" charset="0"/>
                <a:cs typeface="Times New Roman" panose="02020603050405020304" pitchFamily="18" charset="0"/>
              </a:rPr>
              <a:t>False positive detection rate</a:t>
            </a:r>
          </a:p>
          <a:p>
            <a:r>
              <a:rPr lang="en-GB" sz="2000" dirty="0">
                <a:latin typeface="Times New Roman" panose="02020603050405020304" pitchFamily="18" charset="0"/>
                <a:cs typeface="Times New Roman" panose="02020603050405020304" pitchFamily="18" charset="0"/>
              </a:rPr>
              <a:t>System crash rate and session stability</a:t>
            </a:r>
          </a:p>
          <a:p>
            <a:r>
              <a:rPr lang="en-GB" sz="2000" dirty="0">
                <a:latin typeface="Times New Roman" panose="02020603050405020304" pitchFamily="18" charset="0"/>
                <a:cs typeface="Times New Roman" panose="02020603050405020304" pitchFamily="18" charset="0"/>
              </a:rPr>
              <a:t>Accessibility compliance based on WCAG 2.1 Level AA</a:t>
            </a:r>
          </a:p>
          <a:p>
            <a:pPr>
              <a:buClr>
                <a:schemeClr val="tx1"/>
              </a:buCl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531188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86351-B717-739F-9A97-1040F0FA9EAC}"/>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913EC44-C396-11E1-9DE7-A362F97E04C4}"/>
              </a:ext>
            </a:extLst>
          </p:cNvPr>
          <p:cNvSpPr txBox="1">
            <a:spLocks/>
          </p:cNvSpPr>
          <p:nvPr/>
        </p:nvSpPr>
        <p:spPr bwMode="auto">
          <a:xfrm>
            <a:off x="575816" y="179437"/>
            <a:ext cx="9217024" cy="6984776"/>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000" b="1" dirty="0">
                <a:latin typeface="Times New Roman" panose="02020603050405020304" pitchFamily="18" charset="0"/>
                <a:cs typeface="Times New Roman" panose="02020603050405020304" pitchFamily="18" charset="0"/>
              </a:rPr>
              <a:t>Hardware Setup</a:t>
            </a:r>
          </a:p>
          <a:p>
            <a:r>
              <a:rPr lang="en-IN" sz="2000" dirty="0">
                <a:latin typeface="Times New Roman" panose="02020603050405020304" pitchFamily="18" charset="0"/>
                <a:cs typeface="Times New Roman" panose="02020603050405020304" pitchFamily="18" charset="0"/>
              </a:rPr>
              <a:t>Processor: Intel i5 / </a:t>
            </a:r>
            <a:r>
              <a:rPr lang="en-IN" sz="2000" dirty="0" err="1">
                <a:latin typeface="Times New Roman" panose="02020603050405020304" pitchFamily="18" charset="0"/>
                <a:cs typeface="Times New Roman" panose="02020603050405020304" pitchFamily="18" charset="0"/>
              </a:rPr>
              <a:t>Ryzen</a:t>
            </a:r>
            <a:r>
              <a:rPr lang="en-IN" sz="2000" dirty="0">
                <a:latin typeface="Times New Roman" panose="02020603050405020304" pitchFamily="18" charset="0"/>
                <a:cs typeface="Times New Roman" panose="02020603050405020304" pitchFamily="18" charset="0"/>
              </a:rPr>
              <a:t> 5 (Quad-core minimum)</a:t>
            </a:r>
          </a:p>
          <a:p>
            <a:r>
              <a:rPr lang="en-IN" sz="2000" dirty="0">
                <a:latin typeface="Times New Roman" panose="02020603050405020304" pitchFamily="18" charset="0"/>
                <a:cs typeface="Times New Roman" panose="02020603050405020304" pitchFamily="18" charset="0"/>
              </a:rPr>
              <a:t>RAM: 8 GB or higher</a:t>
            </a:r>
          </a:p>
          <a:p>
            <a:r>
              <a:rPr lang="en-IN" sz="2000" dirty="0">
                <a:latin typeface="Times New Roman" panose="02020603050405020304" pitchFamily="18" charset="0"/>
                <a:cs typeface="Times New Roman" panose="02020603050405020304" pitchFamily="18" charset="0"/>
              </a:rPr>
              <a:t>Camera: 720p or higher webcam</a:t>
            </a:r>
          </a:p>
          <a:p>
            <a:r>
              <a:rPr lang="en-IN" sz="2000" dirty="0">
                <a:latin typeface="Times New Roman" panose="02020603050405020304" pitchFamily="18" charset="0"/>
                <a:cs typeface="Times New Roman" panose="02020603050405020304" pitchFamily="18" charset="0"/>
              </a:rPr>
              <a:t>Storage: 256 GB SSD</a:t>
            </a:r>
          </a:p>
          <a:p>
            <a:r>
              <a:rPr lang="en-IN" sz="2000" dirty="0">
                <a:latin typeface="Times New Roman" panose="02020603050405020304" pitchFamily="18" charset="0"/>
                <a:cs typeface="Times New Roman" panose="02020603050405020304" pitchFamily="18" charset="0"/>
              </a:rPr>
              <a:t>Operating System: Windows 10/11</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Software / Technology Stack</a:t>
            </a:r>
          </a:p>
          <a:p>
            <a:r>
              <a:rPr lang="en-IN" sz="2000" dirty="0">
                <a:latin typeface="Times New Roman" panose="02020603050405020304" pitchFamily="18" charset="0"/>
                <a:cs typeface="Times New Roman" panose="02020603050405020304" pitchFamily="18" charset="0"/>
              </a:rPr>
              <a:t>Programming Language: Python 3.8+</a:t>
            </a:r>
          </a:p>
          <a:p>
            <a:r>
              <a:rPr lang="en-IN" sz="2000" dirty="0">
                <a:latin typeface="Times New Roman" panose="02020603050405020304" pitchFamily="18" charset="0"/>
                <a:cs typeface="Times New Roman" panose="02020603050405020304" pitchFamily="18" charset="0"/>
              </a:rPr>
              <a:t>Backend Framework: Flask REST API</a:t>
            </a:r>
          </a:p>
          <a:p>
            <a:r>
              <a:rPr lang="en-IN" sz="2000" dirty="0">
                <a:latin typeface="Times New Roman" panose="02020603050405020304" pitchFamily="18" charset="0"/>
                <a:cs typeface="Times New Roman" panose="02020603050405020304" pitchFamily="18" charset="0"/>
              </a:rPr>
              <a:t>ML Frameworks: TensorFlow / </a:t>
            </a:r>
            <a:r>
              <a:rPr lang="en-IN" sz="2000" dirty="0" err="1">
                <a:latin typeface="Times New Roman" panose="02020603050405020304" pitchFamily="18" charset="0"/>
                <a:cs typeface="Times New Roman" panose="02020603050405020304" pitchFamily="18" charset="0"/>
              </a:rPr>
              <a:t>Keras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Computer Vision: OpenCV, </a:t>
            </a:r>
            <a:r>
              <a:rPr lang="en-IN" sz="2000" dirty="0" err="1">
                <a:latin typeface="Times New Roman" panose="02020603050405020304" pitchFamily="18" charset="0"/>
                <a:cs typeface="Times New Roman" panose="02020603050405020304" pitchFamily="18" charset="0"/>
              </a:rPr>
              <a:t>MediaPipe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Database / Storage: Firebase</a:t>
            </a:r>
          </a:p>
          <a:p>
            <a:r>
              <a:rPr lang="en-IN" sz="2000" dirty="0">
                <a:latin typeface="Times New Roman" panose="02020603050405020304" pitchFamily="18" charset="0"/>
                <a:cs typeface="Times New Roman" panose="02020603050405020304" pitchFamily="18" charset="0"/>
              </a:rPr>
              <a:t>Frontend: HTML5, JavaScript (</a:t>
            </a:r>
            <a:r>
              <a:rPr lang="en-IN" sz="2000" dirty="0" err="1">
                <a:latin typeface="Times New Roman" panose="02020603050405020304" pitchFamily="18" charset="0"/>
                <a:cs typeface="Times New Roman" panose="02020603050405020304" pitchFamily="18" charset="0"/>
              </a:rPr>
              <a:t>MediaDevices</a:t>
            </a:r>
            <a:r>
              <a:rPr lang="en-IN" sz="2000" dirty="0">
                <a:latin typeface="Times New Roman" panose="02020603050405020304" pitchFamily="18" charset="0"/>
                <a:cs typeface="Times New Roman" panose="02020603050405020304" pitchFamily="18" charset="0"/>
              </a:rPr>
              <a:t> API, Web Speech API)</a:t>
            </a:r>
          </a:p>
          <a:p>
            <a:endParaRPr lang="en-IN" sz="2000"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Deployment Setup</a:t>
            </a:r>
          </a:p>
          <a:p>
            <a:r>
              <a:rPr lang="en-GB" sz="2000" dirty="0">
                <a:latin typeface="Times New Roman" panose="02020603050405020304" pitchFamily="18" charset="0"/>
                <a:cs typeface="Times New Roman" panose="02020603050405020304" pitchFamily="18" charset="0"/>
              </a:rPr>
              <a:t>Backend hosted on local Flask server</a:t>
            </a:r>
          </a:p>
          <a:p>
            <a:r>
              <a:rPr lang="en-GB" sz="2000" dirty="0">
                <a:latin typeface="Times New Roman" panose="02020603050405020304" pitchFamily="18" charset="0"/>
                <a:cs typeface="Times New Roman" panose="02020603050405020304" pitchFamily="18" charset="0"/>
              </a:rPr>
              <a:t>Frontend browser-based accessible assessment interface</a:t>
            </a:r>
          </a:p>
          <a:p>
            <a:r>
              <a:rPr lang="en-GB" sz="2000" dirty="0">
                <a:latin typeface="Times New Roman" panose="02020603050405020304" pitchFamily="18" charset="0"/>
                <a:cs typeface="Times New Roman" panose="02020603050405020304" pitchFamily="18" charset="0"/>
              </a:rPr>
              <a:t>REST endpoint used for real-time gesture prediction and recommendation generation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02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90000293-1D75-2604-6BA1-CFBEA0F3EF85}"/>
              </a:ext>
            </a:extLst>
          </p:cNvPr>
          <p:cNvSpPr>
            <a:spLocks noChangeArrowheads="1"/>
          </p:cNvSpPr>
          <p:nvPr/>
        </p:nvSpPr>
        <p:spPr bwMode="auto">
          <a:xfrm>
            <a:off x="503238" y="301625"/>
            <a:ext cx="9070975" cy="8016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a:t>
            </a:r>
          </a:p>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2531" name="Rectangle 2">
            <a:extLst>
              <a:ext uri="{FF2B5EF4-FFF2-40B4-BE49-F238E27FC236}">
                <a16:creationId xmlns:a16="http://schemas.microsoft.com/office/drawing/2014/main" id="{DC1598CB-AA37-45DB-8003-739E35E0DCCC}"/>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76A51A-829D-6BC4-B086-D8A5F9BB91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525" y="1296702"/>
            <a:ext cx="9101984" cy="4966270"/>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03B9-516F-E2D8-AF5B-215FB155DCF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2F0E4E-9D8C-9B55-F68B-A9988AD917C2}"/>
              </a:ext>
            </a:extLst>
          </p:cNvPr>
          <p:cNvPicPr>
            <a:picLocks noChangeAspect="1"/>
          </p:cNvPicPr>
          <p:nvPr/>
        </p:nvPicPr>
        <p:blipFill>
          <a:blip r:embed="rId2">
            <a:extLst>
              <a:ext uri="{28A0092B-C50C-407E-A947-70E740481C1C}">
                <a14:useLocalDpi xmlns:a14="http://schemas.microsoft.com/office/drawing/2010/main" val="0"/>
              </a:ext>
            </a:extLst>
          </a:blip>
          <a:srcRect t="7548" b="4397"/>
          <a:stretch>
            <a:fillRect/>
          </a:stretch>
        </p:blipFill>
        <p:spPr>
          <a:xfrm>
            <a:off x="460850" y="1187550"/>
            <a:ext cx="9158923" cy="5040560"/>
          </a:xfrm>
          <a:prstGeom prst="rect">
            <a:avLst/>
          </a:prstGeom>
        </p:spPr>
      </p:pic>
    </p:spTree>
    <p:extLst>
      <p:ext uri="{BB962C8B-B14F-4D97-AF65-F5344CB8AC3E}">
        <p14:creationId xmlns:p14="http://schemas.microsoft.com/office/powerpoint/2010/main" val="2549048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66689-65C4-78A0-F74D-1A92843E4C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02C6980-0C36-C7AE-5268-D551A70EEF5B}"/>
              </a:ext>
            </a:extLst>
          </p:cNvPr>
          <p:cNvPicPr>
            <a:picLocks noChangeAspect="1"/>
          </p:cNvPicPr>
          <p:nvPr/>
        </p:nvPicPr>
        <p:blipFill>
          <a:blip r:embed="rId2">
            <a:extLst>
              <a:ext uri="{28A0092B-C50C-407E-A947-70E740481C1C}">
                <a14:useLocalDpi xmlns:a14="http://schemas.microsoft.com/office/drawing/2010/main" val="0"/>
              </a:ext>
            </a:extLst>
          </a:blip>
          <a:srcRect t="7548" b="4397"/>
          <a:stretch>
            <a:fillRect/>
          </a:stretch>
        </p:blipFill>
        <p:spPr>
          <a:xfrm>
            <a:off x="460850" y="1187550"/>
            <a:ext cx="9158923" cy="5040560"/>
          </a:xfrm>
          <a:prstGeom prst="rect">
            <a:avLst/>
          </a:prstGeom>
        </p:spPr>
      </p:pic>
    </p:spTree>
    <p:extLst>
      <p:ext uri="{BB962C8B-B14F-4D97-AF65-F5344CB8AC3E}">
        <p14:creationId xmlns:p14="http://schemas.microsoft.com/office/powerpoint/2010/main" val="2093378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73161-1082-F77A-65FA-7CDEB0765F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5E2A9E-07CD-855D-D1AA-2C656A912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850" y="755501"/>
            <a:ext cx="9158923" cy="5724327"/>
          </a:xfrm>
          <a:prstGeom prst="rect">
            <a:avLst/>
          </a:prstGeom>
        </p:spPr>
      </p:pic>
    </p:spTree>
    <p:extLst>
      <p:ext uri="{BB962C8B-B14F-4D97-AF65-F5344CB8AC3E}">
        <p14:creationId xmlns:p14="http://schemas.microsoft.com/office/powerpoint/2010/main" val="717934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471D-29A7-B5F4-B640-2FBFFBEB1E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B059F9-EC3F-E3F0-4EFA-08BB8274A6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31" y="755501"/>
            <a:ext cx="9158923" cy="5724327"/>
          </a:xfrm>
          <a:prstGeom prst="rect">
            <a:avLst/>
          </a:prstGeom>
        </p:spPr>
      </p:pic>
    </p:spTree>
    <p:extLst>
      <p:ext uri="{BB962C8B-B14F-4D97-AF65-F5344CB8AC3E}">
        <p14:creationId xmlns:p14="http://schemas.microsoft.com/office/powerpoint/2010/main" val="3798344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DC18F-08BD-5D7B-C3E5-BCF23A8DE6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FB556E-F5F3-A264-5409-F9878B708B66}"/>
              </a:ext>
            </a:extLst>
          </p:cNvPr>
          <p:cNvPicPr>
            <a:picLocks noChangeAspect="1"/>
          </p:cNvPicPr>
          <p:nvPr/>
        </p:nvPicPr>
        <p:blipFill>
          <a:blip r:embed="rId2">
            <a:extLst>
              <a:ext uri="{28A0092B-C50C-407E-A947-70E740481C1C}">
                <a14:useLocalDpi xmlns:a14="http://schemas.microsoft.com/office/drawing/2010/main" val="0"/>
              </a:ext>
            </a:extLst>
          </a:blip>
          <a:srcRect t="3685" b="3143"/>
          <a:stretch>
            <a:fillRect/>
          </a:stretch>
        </p:blipFill>
        <p:spPr>
          <a:xfrm>
            <a:off x="460851" y="971526"/>
            <a:ext cx="9150494" cy="5328592"/>
          </a:xfrm>
          <a:prstGeom prst="rect">
            <a:avLst/>
          </a:prstGeom>
        </p:spPr>
      </p:pic>
    </p:spTree>
    <p:extLst>
      <p:ext uri="{BB962C8B-B14F-4D97-AF65-F5344CB8AC3E}">
        <p14:creationId xmlns:p14="http://schemas.microsoft.com/office/powerpoint/2010/main" val="2025480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001FB-1B73-DE79-C2E7-A07112F8D6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39E593-8C79-5CB8-BF6D-FDC2403FD9A7}"/>
              </a:ext>
            </a:extLst>
          </p:cNvPr>
          <p:cNvPicPr>
            <a:picLocks noChangeAspect="1"/>
          </p:cNvPicPr>
          <p:nvPr/>
        </p:nvPicPr>
        <p:blipFill>
          <a:blip r:embed="rId2">
            <a:extLst>
              <a:ext uri="{28A0092B-C50C-407E-A947-70E740481C1C}">
                <a14:useLocalDpi xmlns:a14="http://schemas.microsoft.com/office/drawing/2010/main" val="0"/>
              </a:ext>
            </a:extLst>
          </a:blip>
          <a:srcRect t="7548" b="4397"/>
          <a:stretch>
            <a:fillRect/>
          </a:stretch>
        </p:blipFill>
        <p:spPr>
          <a:xfrm>
            <a:off x="460850" y="1187550"/>
            <a:ext cx="9158922" cy="5040560"/>
          </a:xfrm>
          <a:prstGeom prst="rect">
            <a:avLst/>
          </a:prstGeom>
        </p:spPr>
      </p:pic>
    </p:spTree>
    <p:extLst>
      <p:ext uri="{BB962C8B-B14F-4D97-AF65-F5344CB8AC3E}">
        <p14:creationId xmlns:p14="http://schemas.microsoft.com/office/powerpoint/2010/main" val="1832267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FBE29-C7F7-2717-9CD0-90C4A56DD845}"/>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9978A067-6956-DB71-2F77-0636C6CDADEA}"/>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C0D22BF6-A561-BA53-E1B2-5D0493DDCB71}"/>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 &amp; Analysis</a:t>
            </a:r>
            <a:endParaRPr lang="en-IN" sz="3600" b="1" dirty="0">
              <a:effectLst>
                <a:outerShdw blurRad="38100" dist="38100" dir="2700000" algn="tl">
                  <a:srgbClr val="000000">
                    <a:alpha val="43137"/>
                  </a:srgbClr>
                </a:outerShdw>
              </a:effectLst>
            </a:endParaRPr>
          </a:p>
        </p:txBody>
      </p:sp>
      <p:sp>
        <p:nvSpPr>
          <p:cNvPr id="5" name="Content Placeholder 2">
            <a:extLst>
              <a:ext uri="{FF2B5EF4-FFF2-40B4-BE49-F238E27FC236}">
                <a16:creationId xmlns:a16="http://schemas.microsoft.com/office/drawing/2014/main" id="{DDDD23F3-CAA2-0CE7-9FE4-CD67A326DC72}"/>
              </a:ext>
            </a:extLst>
          </p:cNvPr>
          <p:cNvSpPr txBox="1">
            <a:spLocks/>
          </p:cNvSpPr>
          <p:nvPr/>
        </p:nvSpPr>
        <p:spPr bwMode="auto">
          <a:xfrm>
            <a:off x="504823" y="1009647"/>
            <a:ext cx="9070975"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000" b="1" dirty="0">
                <a:latin typeface="Times New Roman" panose="02020603050405020304" pitchFamily="18" charset="0"/>
                <a:cs typeface="Times New Roman" panose="02020603050405020304" pitchFamily="18" charset="0"/>
              </a:rPr>
              <a:t>Performance Metrics</a:t>
            </a:r>
          </a:p>
          <a:p>
            <a:r>
              <a:rPr lang="en-IN" sz="2000" dirty="0">
                <a:latin typeface="Times New Roman" panose="02020603050405020304" pitchFamily="18" charset="0"/>
                <a:cs typeface="Times New Roman" panose="02020603050405020304" pitchFamily="18" charset="0"/>
              </a:rPr>
              <a:t>Gesture recognition model achieved ~90–93% accuracy</a:t>
            </a:r>
          </a:p>
          <a:p>
            <a:r>
              <a:rPr lang="en-IN" sz="2000" dirty="0">
                <a:latin typeface="Times New Roman" panose="02020603050405020304" pitchFamily="18" charset="0"/>
                <a:cs typeface="Times New Roman" panose="02020603050405020304" pitchFamily="18" charset="0"/>
              </a:rPr>
              <a:t>Average detection latency ~600 </a:t>
            </a:r>
            <a:r>
              <a:rPr lang="en-IN" sz="2000" dirty="0" err="1">
                <a:latin typeface="Times New Roman" panose="02020603050405020304" pitchFamily="18" charset="0"/>
                <a:cs typeface="Times New Roman" panose="02020603050405020304" pitchFamily="18" charset="0"/>
              </a:rPr>
              <a:t>ms</a:t>
            </a:r>
            <a:r>
              <a:rPr lang="en-IN" sz="2000" dirty="0">
                <a:latin typeface="Times New Roman" panose="02020603050405020304" pitchFamily="18" charset="0"/>
                <a:cs typeface="Times New Roman" panose="02020603050405020304" pitchFamily="18" charset="0"/>
              </a:rPr>
              <a:t> under real-time conditions</a:t>
            </a:r>
          </a:p>
          <a:p>
            <a:r>
              <a:rPr lang="en-IN" sz="2000" dirty="0">
                <a:latin typeface="Times New Roman" panose="02020603050405020304" pitchFamily="18" charset="0"/>
                <a:cs typeface="Times New Roman" panose="02020603050405020304" pitchFamily="18" charset="0"/>
              </a:rPr>
              <a:t>False trigger rate reduced using 3-frame stability and cooldown logic</a:t>
            </a:r>
          </a:p>
          <a:p>
            <a:r>
              <a:rPr lang="en-IN" sz="2000" dirty="0">
                <a:latin typeface="Times New Roman" panose="02020603050405020304" pitchFamily="18" charset="0"/>
                <a:cs typeface="Times New Roman" panose="02020603050405020304" pitchFamily="18" charset="0"/>
              </a:rPr>
              <a:t>System initialization optimized (60–99% faster) compared to baseline implementations</a:t>
            </a:r>
          </a:p>
          <a:p>
            <a:r>
              <a:rPr lang="en-IN" sz="2000" dirty="0">
                <a:latin typeface="Times New Roman" panose="02020603050405020304" pitchFamily="18" charset="0"/>
                <a:cs typeface="Times New Roman" panose="02020603050405020304" pitchFamily="18" charset="0"/>
              </a:rPr>
              <a:t>Continuous assessment workflow completed with 0% crash rate</a:t>
            </a:r>
          </a:p>
          <a:p>
            <a:pPr>
              <a:buClr>
                <a:schemeClr val="tx1"/>
              </a:buClr>
            </a:pPr>
            <a:endParaRPr lang="en-IN" sz="2000"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Accessibility &amp; System Functionality Results</a:t>
            </a:r>
          </a:p>
          <a:p>
            <a:r>
              <a:rPr lang="en-GB" sz="2000" dirty="0">
                <a:latin typeface="Times New Roman" panose="02020603050405020304" pitchFamily="18" charset="0"/>
                <a:cs typeface="Times New Roman" panose="02020603050405020304" pitchFamily="18" charset="0"/>
              </a:rPr>
              <a:t>100% continuous Text-to-Speech support across assessment flow</a:t>
            </a:r>
          </a:p>
          <a:p>
            <a:r>
              <a:rPr lang="en-GB" sz="2000" dirty="0">
                <a:latin typeface="Times New Roman" panose="02020603050405020304" pitchFamily="18" charset="0"/>
                <a:cs typeface="Times New Roman" panose="02020603050405020304" pitchFamily="18" charset="0"/>
              </a:rPr>
              <a:t>First assessment question audio playback &lt; 5 seconds</a:t>
            </a:r>
          </a:p>
          <a:p>
            <a:r>
              <a:rPr lang="en-GB" sz="2000" dirty="0">
                <a:latin typeface="Times New Roman" panose="02020603050405020304" pitchFamily="18" charset="0"/>
                <a:cs typeface="Times New Roman" panose="02020603050405020304" pitchFamily="18" charset="0"/>
              </a:rPr>
              <a:t>Full interface verified for WCAG 2.1 accessibility compliance</a:t>
            </a:r>
          </a:p>
          <a:p>
            <a:r>
              <a:rPr lang="en-GB" sz="2000" dirty="0">
                <a:latin typeface="Times New Roman" panose="02020603050405020304" pitchFamily="18" charset="0"/>
                <a:cs typeface="Times New Roman" panose="02020603050405020304" pitchFamily="18" charset="0"/>
              </a:rPr>
              <a:t>Supports hands-free gesture-driven assessment navigation</a:t>
            </a:r>
          </a:p>
          <a:p>
            <a:pPr>
              <a:buClr>
                <a:schemeClr val="tx1"/>
              </a:buCl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368752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43D62-2544-DFB0-A0CC-2E76F083892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708B4D8-0BBD-A3CD-AF90-972C8DFD32E8}"/>
              </a:ext>
            </a:extLst>
          </p:cNvPr>
          <p:cNvSpPr txBox="1">
            <a:spLocks/>
          </p:cNvSpPr>
          <p:nvPr/>
        </p:nvSpPr>
        <p:spPr bwMode="auto">
          <a:xfrm>
            <a:off x="575816" y="179437"/>
            <a:ext cx="9217024" cy="2088232"/>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Assessment &amp; Recommendation Performance</a:t>
            </a:r>
          </a:p>
          <a:p>
            <a:r>
              <a:rPr lang="en-GB" sz="2000" dirty="0">
                <a:latin typeface="Times New Roman" panose="02020603050405020304" pitchFamily="18" charset="0"/>
                <a:cs typeface="Times New Roman" panose="02020603050405020304" pitchFamily="18" charset="0"/>
              </a:rPr>
              <a:t>Successfully processed 40 universal + disability-specific adaptive questions</a:t>
            </a:r>
          </a:p>
          <a:p>
            <a:r>
              <a:rPr lang="en-GB" sz="2000" dirty="0">
                <a:latin typeface="Times New Roman" panose="02020603050405020304" pitchFamily="18" charset="0"/>
                <a:cs typeface="Times New Roman" panose="02020603050405020304" pitchFamily="18" charset="0"/>
              </a:rPr>
              <a:t>Capability detection supports up to 5 disabilities (21 types mapped)</a:t>
            </a:r>
          </a:p>
          <a:p>
            <a:r>
              <a:rPr lang="en-GB" sz="2000" dirty="0">
                <a:latin typeface="Times New Roman" panose="02020603050405020304" pitchFamily="18" charset="0"/>
                <a:cs typeface="Times New Roman" panose="02020603050405020304" pitchFamily="18" charset="0"/>
              </a:rPr>
              <a:t>Generated personalized career pathways and government scheme recommendations</a:t>
            </a:r>
          </a:p>
          <a:p>
            <a:r>
              <a:rPr lang="en-GB" sz="2000" dirty="0">
                <a:latin typeface="Times New Roman" panose="02020603050405020304" pitchFamily="18" charset="0"/>
                <a:cs typeface="Times New Roman" panose="02020603050405020304" pitchFamily="18" charset="0"/>
              </a:rPr>
              <a:t>System validated for real-time accessible assessment environments</a:t>
            </a:r>
          </a:p>
        </p:txBody>
      </p:sp>
      <p:graphicFrame>
        <p:nvGraphicFramePr>
          <p:cNvPr id="3" name="Table 2">
            <a:extLst>
              <a:ext uri="{FF2B5EF4-FFF2-40B4-BE49-F238E27FC236}">
                <a16:creationId xmlns:a16="http://schemas.microsoft.com/office/drawing/2014/main" id="{EA7C98AC-F3DD-06D7-BF76-FA22DBE1A994}"/>
              </a:ext>
            </a:extLst>
          </p:cNvPr>
          <p:cNvGraphicFramePr>
            <a:graphicFrameLocks noGrp="1"/>
          </p:cNvGraphicFramePr>
          <p:nvPr>
            <p:extLst>
              <p:ext uri="{D42A27DB-BD31-4B8C-83A1-F6EECF244321}">
                <p14:modId xmlns:p14="http://schemas.microsoft.com/office/powerpoint/2010/main" val="782747991"/>
              </p:ext>
            </p:extLst>
          </p:nvPr>
        </p:nvGraphicFramePr>
        <p:xfrm>
          <a:off x="719832" y="2627709"/>
          <a:ext cx="8496945" cy="3918451"/>
        </p:xfrm>
        <a:graphic>
          <a:graphicData uri="http://schemas.openxmlformats.org/drawingml/2006/table">
            <a:tbl>
              <a:tblPr>
                <a:tableStyleId>{69CF1AB2-1976-4502-BF36-3FF5EA218861}</a:tableStyleId>
              </a:tblPr>
              <a:tblGrid>
                <a:gridCol w="2832315">
                  <a:extLst>
                    <a:ext uri="{9D8B030D-6E8A-4147-A177-3AD203B41FA5}">
                      <a16:colId xmlns:a16="http://schemas.microsoft.com/office/drawing/2014/main" val="4198540042"/>
                    </a:ext>
                  </a:extLst>
                </a:gridCol>
                <a:gridCol w="2832315">
                  <a:extLst>
                    <a:ext uri="{9D8B030D-6E8A-4147-A177-3AD203B41FA5}">
                      <a16:colId xmlns:a16="http://schemas.microsoft.com/office/drawing/2014/main" val="1174401181"/>
                    </a:ext>
                  </a:extLst>
                </a:gridCol>
                <a:gridCol w="2832315">
                  <a:extLst>
                    <a:ext uri="{9D8B030D-6E8A-4147-A177-3AD203B41FA5}">
                      <a16:colId xmlns:a16="http://schemas.microsoft.com/office/drawing/2014/main" val="3749319812"/>
                    </a:ext>
                  </a:extLst>
                </a:gridCol>
              </a:tblGrid>
              <a:tr h="512508">
                <a:tc>
                  <a:txBody>
                    <a:bodyPr/>
                    <a:lstStyle/>
                    <a:p>
                      <a:pPr>
                        <a:buNone/>
                      </a:pPr>
                      <a:r>
                        <a:rPr lang="en-IN" sz="2000">
                          <a:latin typeface="Times New Roman" panose="02020603050405020304" pitchFamily="18" charset="0"/>
                          <a:cs typeface="Times New Roman" panose="02020603050405020304" pitchFamily="18" charset="0"/>
                        </a:rPr>
                        <a:t>Feature</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Existing Career Systems</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Proposed UDCOE System</a:t>
                      </a:r>
                    </a:p>
                  </a:txBody>
                  <a:tcPr marL="76942" marR="76942" marT="38471" marB="38471" anchor="ctr"/>
                </a:tc>
                <a:extLst>
                  <a:ext uri="{0D108BD9-81ED-4DB2-BD59-A6C34878D82A}">
                    <a16:rowId xmlns:a16="http://schemas.microsoft.com/office/drawing/2014/main" val="674707894"/>
                  </a:ext>
                </a:extLst>
              </a:tr>
              <a:tr h="735631">
                <a:tc>
                  <a:txBody>
                    <a:bodyPr/>
                    <a:lstStyle/>
                    <a:p>
                      <a:pPr>
                        <a:buNone/>
                      </a:pPr>
                      <a:r>
                        <a:rPr lang="en-IN" sz="2000">
                          <a:latin typeface="Times New Roman" panose="02020603050405020304" pitchFamily="18" charset="0"/>
                          <a:cs typeface="Times New Roman" panose="02020603050405020304" pitchFamily="18" charset="0"/>
                        </a:rPr>
                        <a:t>Disability-specific adaptive assessment</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Limited / Not integrated</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Fully integrated</a:t>
                      </a:r>
                    </a:p>
                  </a:txBody>
                  <a:tcPr marL="76942" marR="76942" marT="38471" marB="38471" anchor="ctr"/>
                </a:tc>
                <a:extLst>
                  <a:ext uri="{0D108BD9-81ED-4DB2-BD59-A6C34878D82A}">
                    <a16:rowId xmlns:a16="http://schemas.microsoft.com/office/drawing/2014/main" val="1122390704"/>
                  </a:ext>
                </a:extLst>
              </a:tr>
              <a:tr h="512508">
                <a:tc>
                  <a:txBody>
                    <a:bodyPr/>
                    <a:lstStyle/>
                    <a:p>
                      <a:pPr>
                        <a:buNone/>
                      </a:pPr>
                      <a:r>
                        <a:rPr lang="en-IN" sz="2000">
                          <a:latin typeface="Times New Roman" panose="02020603050405020304" pitchFamily="18" charset="0"/>
                          <a:cs typeface="Times New Roman" panose="02020603050405020304" pitchFamily="18" charset="0"/>
                        </a:rPr>
                        <a:t>Hands-free interaction</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Not available</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Gesture-based navigation</a:t>
                      </a:r>
                    </a:p>
                  </a:txBody>
                  <a:tcPr marL="76942" marR="76942" marT="38471" marB="38471" anchor="ctr"/>
                </a:tc>
                <a:extLst>
                  <a:ext uri="{0D108BD9-81ED-4DB2-BD59-A6C34878D82A}">
                    <a16:rowId xmlns:a16="http://schemas.microsoft.com/office/drawing/2014/main" val="4212687535"/>
                  </a:ext>
                </a:extLst>
              </a:tr>
              <a:tr h="512508">
                <a:tc>
                  <a:txBody>
                    <a:bodyPr/>
                    <a:lstStyle/>
                    <a:p>
                      <a:pPr>
                        <a:buNone/>
                      </a:pPr>
                      <a:r>
                        <a:rPr lang="en-IN" sz="2000" dirty="0">
                          <a:latin typeface="Times New Roman" panose="02020603050405020304" pitchFamily="18" charset="0"/>
                          <a:cs typeface="Times New Roman" panose="02020603050405020304" pitchFamily="18" charset="0"/>
                        </a:rPr>
                        <a:t>Accessibility compliance</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Partial</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WCAG 2.1 compliant</a:t>
                      </a:r>
                    </a:p>
                  </a:txBody>
                  <a:tcPr marL="76942" marR="76942" marT="38471" marB="38471" anchor="ctr"/>
                </a:tc>
                <a:extLst>
                  <a:ext uri="{0D108BD9-81ED-4DB2-BD59-A6C34878D82A}">
                    <a16:rowId xmlns:a16="http://schemas.microsoft.com/office/drawing/2014/main" val="1453820845"/>
                  </a:ext>
                </a:extLst>
              </a:tr>
              <a:tr h="735631">
                <a:tc>
                  <a:txBody>
                    <a:bodyPr/>
                    <a:lstStyle/>
                    <a:p>
                      <a:pPr>
                        <a:buNone/>
                      </a:pPr>
                      <a:r>
                        <a:rPr lang="en-IN" sz="2000">
                          <a:latin typeface="Times New Roman" panose="02020603050405020304" pitchFamily="18" charset="0"/>
                          <a:cs typeface="Times New Roman" panose="02020603050405020304" pitchFamily="18" charset="0"/>
                        </a:rPr>
                        <a:t>Real-time assessment workflow</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Limited</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End-to-end automated</a:t>
                      </a:r>
                    </a:p>
                  </a:txBody>
                  <a:tcPr marL="76942" marR="76942" marT="38471" marB="38471" anchor="ctr"/>
                </a:tc>
                <a:extLst>
                  <a:ext uri="{0D108BD9-81ED-4DB2-BD59-A6C34878D82A}">
                    <a16:rowId xmlns:a16="http://schemas.microsoft.com/office/drawing/2014/main" val="1590971437"/>
                  </a:ext>
                </a:extLst>
              </a:tr>
              <a:tr h="735631">
                <a:tc>
                  <a:txBody>
                    <a:bodyPr/>
                    <a:lstStyle/>
                    <a:p>
                      <a:pPr>
                        <a:buNone/>
                      </a:pPr>
                      <a:r>
                        <a:rPr lang="en-IN" sz="2000">
                          <a:latin typeface="Times New Roman" panose="02020603050405020304" pitchFamily="18" charset="0"/>
                          <a:cs typeface="Times New Roman" panose="02020603050405020304" pitchFamily="18" charset="0"/>
                        </a:rPr>
                        <a:t>Career + scheme recommendation</a:t>
                      </a:r>
                    </a:p>
                  </a:txBody>
                  <a:tcPr marL="76942" marR="76942" marT="38471" marB="38471" anchor="ctr"/>
                </a:tc>
                <a:tc>
                  <a:txBody>
                    <a:bodyPr/>
                    <a:lstStyle/>
                    <a:p>
                      <a:pPr>
                        <a:buNone/>
                      </a:pPr>
                      <a:r>
                        <a:rPr lang="en-IN" sz="2000">
                          <a:latin typeface="Times New Roman" panose="02020603050405020304" pitchFamily="18" charset="0"/>
                          <a:cs typeface="Times New Roman" panose="02020603050405020304" pitchFamily="18" charset="0"/>
                        </a:rPr>
                        <a:t>Separate platforms</a:t>
                      </a:r>
                    </a:p>
                  </a:txBody>
                  <a:tcPr marL="76942" marR="76942" marT="38471" marB="38471" anchor="ctr"/>
                </a:tc>
                <a:tc>
                  <a:txBody>
                    <a:bodyPr/>
                    <a:lstStyle/>
                    <a:p>
                      <a:pPr>
                        <a:buNone/>
                      </a:pPr>
                      <a:r>
                        <a:rPr lang="en-IN" sz="2000" dirty="0">
                          <a:latin typeface="Times New Roman" panose="02020603050405020304" pitchFamily="18" charset="0"/>
                          <a:cs typeface="Times New Roman" panose="02020603050405020304" pitchFamily="18" charset="0"/>
                        </a:rPr>
                        <a:t>Unified recommendation engine</a:t>
                      </a:r>
                    </a:p>
                  </a:txBody>
                  <a:tcPr marL="76942" marR="76942" marT="38471" marB="38471" anchor="ctr"/>
                </a:tc>
                <a:extLst>
                  <a:ext uri="{0D108BD9-81ED-4DB2-BD59-A6C34878D82A}">
                    <a16:rowId xmlns:a16="http://schemas.microsoft.com/office/drawing/2014/main" val="662752411"/>
                  </a:ext>
                </a:extLst>
              </a:tr>
            </a:tbl>
          </a:graphicData>
        </a:graphic>
      </p:graphicFrame>
    </p:spTree>
    <p:extLst>
      <p:ext uri="{BB962C8B-B14F-4D97-AF65-F5344CB8AC3E}">
        <p14:creationId xmlns:p14="http://schemas.microsoft.com/office/powerpoint/2010/main" val="3697789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4DE9B-209E-B4CA-0176-53072E443489}"/>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B13C9B56-EB2F-7F93-424D-D1F16CAC399F}"/>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3CE76F52-9A30-0329-8F75-2D70BA2ED56E}"/>
              </a:ext>
            </a:extLst>
          </p:cNvPr>
          <p:cNvSpPr>
            <a:spLocks noChangeArrowheads="1"/>
          </p:cNvSpPr>
          <p:nvPr/>
        </p:nvSpPr>
        <p:spPr bwMode="auto">
          <a:xfrm>
            <a:off x="504823" y="219942"/>
            <a:ext cx="9070975" cy="7920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and Future work</a:t>
            </a:r>
            <a:endParaRPr lang="en-IN" sz="3600" b="1" dirty="0">
              <a:effectLst>
                <a:outerShdw blurRad="38100" dist="38100" dir="2700000" algn="tl">
                  <a:srgbClr val="000000">
                    <a:alpha val="43137"/>
                  </a:srgbClr>
                </a:outerShdw>
              </a:effectLst>
            </a:endParaRPr>
          </a:p>
        </p:txBody>
      </p:sp>
      <p:sp>
        <p:nvSpPr>
          <p:cNvPr id="5" name="Content Placeholder 2">
            <a:extLst>
              <a:ext uri="{FF2B5EF4-FFF2-40B4-BE49-F238E27FC236}">
                <a16:creationId xmlns:a16="http://schemas.microsoft.com/office/drawing/2014/main" id="{77FA1EA7-8191-7E5E-30D9-2B9255791252}"/>
              </a:ext>
            </a:extLst>
          </p:cNvPr>
          <p:cNvSpPr txBox="1">
            <a:spLocks/>
          </p:cNvSpPr>
          <p:nvPr/>
        </p:nvSpPr>
        <p:spPr bwMode="auto">
          <a:xfrm>
            <a:off x="504823" y="1009647"/>
            <a:ext cx="9070975" cy="5938787"/>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Summary of Outcomes</a:t>
            </a:r>
          </a:p>
          <a:p>
            <a:r>
              <a:rPr lang="en-GB" sz="2000" dirty="0">
                <a:latin typeface="Times New Roman" panose="02020603050405020304" pitchFamily="18" charset="0"/>
                <a:cs typeface="Times New Roman" panose="02020603050405020304" pitchFamily="18" charset="0"/>
              </a:rPr>
              <a:t>Developed an adaptive, accessibility-aware career recommendation platform for differently-abled individuals</a:t>
            </a:r>
          </a:p>
          <a:p>
            <a:r>
              <a:rPr lang="en-GB" sz="2000" dirty="0">
                <a:latin typeface="Times New Roman" panose="02020603050405020304" pitchFamily="18" charset="0"/>
                <a:cs typeface="Times New Roman" panose="02020603050405020304" pitchFamily="18" charset="0"/>
              </a:rPr>
              <a:t>Successfully integrated gesture-based interaction, adaptive assessment, and personalized recommendation engine</a:t>
            </a:r>
          </a:p>
          <a:p>
            <a:r>
              <a:rPr lang="en-GB" sz="2000" dirty="0">
                <a:latin typeface="Times New Roman" panose="02020603050405020304" pitchFamily="18" charset="0"/>
                <a:cs typeface="Times New Roman" panose="02020603050405020304" pitchFamily="18" charset="0"/>
              </a:rPr>
              <a:t>Achieved high gesture recognition accuracy (~90%+) with real-time response performance</a:t>
            </a:r>
          </a:p>
          <a:p>
            <a:r>
              <a:rPr lang="en-GB" sz="2000" dirty="0">
                <a:latin typeface="Times New Roman" panose="02020603050405020304" pitchFamily="18" charset="0"/>
                <a:cs typeface="Times New Roman" panose="02020603050405020304" pitchFamily="18" charset="0"/>
              </a:rPr>
              <a:t>Ensured WCAG 2.1 compliant accessible interface supporting hands-free assessment navigation</a:t>
            </a:r>
          </a:p>
          <a:p>
            <a:r>
              <a:rPr lang="en-GB" sz="2000" dirty="0">
                <a:latin typeface="Times New Roman" panose="02020603050405020304" pitchFamily="18" charset="0"/>
                <a:cs typeface="Times New Roman" panose="02020603050405020304" pitchFamily="18" charset="0"/>
              </a:rPr>
              <a:t>Generated personalized career pathways and scheme recommendations based on capability profiling </a:t>
            </a:r>
          </a:p>
          <a:p>
            <a:pPr marL="0" lvl="0" indent="0">
              <a:spcBef>
                <a:spcPct val="0"/>
              </a:spcBef>
              <a:buFontTx/>
              <a:buChar char="•"/>
            </a:pPr>
            <a:endParaRPr lang="en-US" altLang="en-US" sz="2000" dirty="0">
              <a:latin typeface="Times New Roman" panose="02020603050405020304" pitchFamily="18" charset="0"/>
              <a:cs typeface="Times New Roman" panose="02020603050405020304" pitchFamily="18" charset="0"/>
            </a:endParaRPr>
          </a:p>
          <a:p>
            <a:pPr marL="0" indent="0">
              <a:buNone/>
            </a:pPr>
            <a:r>
              <a:rPr lang="en-GB" sz="2000" b="1" dirty="0">
                <a:latin typeface="Times New Roman" panose="02020603050405020304" pitchFamily="18" charset="0"/>
                <a:cs typeface="Times New Roman" panose="02020603050405020304" pitchFamily="18" charset="0"/>
              </a:rPr>
              <a:t>Objectives Achieved</a:t>
            </a:r>
          </a:p>
          <a:p>
            <a:r>
              <a:rPr lang="en-GB" sz="2000" dirty="0">
                <a:latin typeface="Times New Roman" panose="02020603050405020304" pitchFamily="18" charset="0"/>
                <a:cs typeface="Times New Roman" panose="02020603050405020304" pitchFamily="18" charset="0"/>
              </a:rPr>
              <a:t>Designed disability-specific adaptive assessment framework</a:t>
            </a:r>
          </a:p>
          <a:p>
            <a:r>
              <a:rPr lang="en-GB" sz="2000" dirty="0">
                <a:latin typeface="Times New Roman" panose="02020603050405020304" pitchFamily="18" charset="0"/>
                <a:cs typeface="Times New Roman" panose="02020603050405020304" pitchFamily="18" charset="0"/>
              </a:rPr>
              <a:t>Implemented rule-based recommendation system</a:t>
            </a:r>
          </a:p>
          <a:p>
            <a:r>
              <a:rPr lang="en-GB" sz="2000" dirty="0">
                <a:latin typeface="Times New Roman" panose="02020603050405020304" pitchFamily="18" charset="0"/>
                <a:cs typeface="Times New Roman" panose="02020603050405020304" pitchFamily="18" charset="0"/>
              </a:rPr>
              <a:t>Created inclusive career opportunity and accessibility requirement database</a:t>
            </a:r>
          </a:p>
          <a:p>
            <a:r>
              <a:rPr lang="en-GB" sz="2000" dirty="0">
                <a:latin typeface="Times New Roman" panose="02020603050405020304" pitchFamily="18" charset="0"/>
                <a:cs typeface="Times New Roman" panose="02020603050405020304" pitchFamily="18" charset="0"/>
              </a:rPr>
              <a:t>Enabled secure, real-time assessment workflow with continuous audio guidance</a:t>
            </a:r>
          </a:p>
          <a:p>
            <a:r>
              <a:rPr lang="en-GB" sz="2000" dirty="0">
                <a:latin typeface="Times New Roman" panose="02020603050405020304" pitchFamily="18" charset="0"/>
                <a:cs typeface="Times New Roman" panose="02020603050405020304" pitchFamily="18" charset="0"/>
              </a:rPr>
              <a:t>Provided accessible dashboards for users and support organizations</a:t>
            </a:r>
          </a:p>
          <a:p>
            <a:pPr marL="0" lvl="0" indent="0">
              <a:spcBef>
                <a:spcPct val="0"/>
              </a:spcBef>
              <a:buNone/>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24798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D8AFB-8AC4-500E-FD24-A9BBD382B100}"/>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85CB347-A9D8-C188-96DC-648E3E20EA83}"/>
              </a:ext>
            </a:extLst>
          </p:cNvPr>
          <p:cNvSpPr txBox="1">
            <a:spLocks/>
          </p:cNvSpPr>
          <p:nvPr/>
        </p:nvSpPr>
        <p:spPr bwMode="auto">
          <a:xfrm>
            <a:off x="575816" y="179437"/>
            <a:ext cx="9217024" cy="6984776"/>
          </a:xfrm>
          <a:prstGeom prst="rect">
            <a:avLst/>
          </a:prstGeom>
          <a:noFill/>
          <a:ln>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latin typeface="Times New Roman" panose="02020603050405020304" pitchFamily="18" charset="0"/>
                <a:cs typeface="Times New Roman" panose="02020603050405020304" pitchFamily="18" charset="0"/>
              </a:rPr>
              <a:t>Future Work / Scope of Improvement</a:t>
            </a:r>
          </a:p>
          <a:p>
            <a:r>
              <a:rPr lang="en-GB" sz="2000" dirty="0">
                <a:latin typeface="Times New Roman" panose="02020603050405020304" pitchFamily="18" charset="0"/>
                <a:cs typeface="Times New Roman" panose="02020603050405020304" pitchFamily="18" charset="0"/>
              </a:rPr>
              <a:t>Expand dataset to include more gesture classes and multilingual speech support</a:t>
            </a:r>
          </a:p>
          <a:p>
            <a:r>
              <a:rPr lang="en-GB" sz="2000" dirty="0">
                <a:latin typeface="Times New Roman" panose="02020603050405020304" pitchFamily="18" charset="0"/>
                <a:cs typeface="Times New Roman" panose="02020603050405020304" pitchFamily="18" charset="0"/>
              </a:rPr>
              <a:t>Add mobile application version for wider accessibility</a:t>
            </a:r>
          </a:p>
          <a:p>
            <a:r>
              <a:rPr lang="en-GB" sz="2000" dirty="0">
                <a:latin typeface="Times New Roman" panose="02020603050405020304" pitchFamily="18" charset="0"/>
                <a:cs typeface="Times New Roman" panose="02020603050405020304" pitchFamily="18" charset="0"/>
              </a:rPr>
              <a:t>Incorporate continuous learning models for dynamic recommendation improvement</a:t>
            </a:r>
          </a:p>
          <a:p>
            <a:r>
              <a:rPr lang="en-GB" sz="2000" dirty="0">
                <a:latin typeface="Times New Roman" panose="02020603050405020304" pitchFamily="18" charset="0"/>
                <a:cs typeface="Times New Roman" panose="02020603050405020304" pitchFamily="18" charset="0"/>
              </a:rPr>
              <a:t>Extend platform integration with government employment portals and training providers</a:t>
            </a:r>
          </a:p>
          <a:p>
            <a:r>
              <a:rPr lang="en-GB" sz="2000" dirty="0">
                <a:latin typeface="Times New Roman" panose="02020603050405020304" pitchFamily="18" charset="0"/>
                <a:cs typeface="Times New Roman" panose="02020603050405020304" pitchFamily="18" charset="0"/>
              </a:rPr>
              <a:t>Enhance AI-based personalized skill-development learning pathways</a:t>
            </a:r>
          </a:p>
        </p:txBody>
      </p:sp>
    </p:spTree>
    <p:extLst>
      <p:ext uri="{BB962C8B-B14F-4D97-AF65-F5344CB8AC3E}">
        <p14:creationId xmlns:p14="http://schemas.microsoft.com/office/powerpoint/2010/main" val="4052367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09047EA2-FC73-5703-6094-BC6625628FD8}"/>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p>
        </p:txBody>
      </p:sp>
      <p:sp>
        <p:nvSpPr>
          <p:cNvPr id="28675" name="Rectangle 2">
            <a:extLst>
              <a:ext uri="{FF2B5EF4-FFF2-40B4-BE49-F238E27FC236}">
                <a16:creationId xmlns:a16="http://schemas.microsoft.com/office/drawing/2014/main" id="{E1378858-33A2-5AF2-8384-9238718A5C14}"/>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8676" name="Content Placeholder 2">
            <a:extLst>
              <a:ext uri="{FF2B5EF4-FFF2-40B4-BE49-F238E27FC236}">
                <a16:creationId xmlns:a16="http://schemas.microsoft.com/office/drawing/2014/main" id="{698C05C7-1E21-CADF-0766-AF49ED7D7E7A}"/>
              </a:ext>
            </a:extLst>
          </p:cNvPr>
          <p:cNvSpPr txBox="1">
            <a:spLocks noChangeArrowheads="1"/>
          </p:cNvSpPr>
          <p:nvPr/>
        </p:nvSpPr>
        <p:spPr bwMode="auto">
          <a:xfrm>
            <a:off x="539750" y="1484313"/>
            <a:ext cx="8677275" cy="56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marL="0" indent="0">
              <a:spcBef>
                <a:spcPct val="0"/>
              </a:spcBef>
              <a:buClrTx/>
              <a:buSzTx/>
              <a:buNone/>
            </a:pPr>
            <a:r>
              <a:rPr lang="en-GB" sz="2000" dirty="0">
                <a:solidFill>
                  <a:schemeClr val="tx1"/>
                </a:solidFill>
                <a:latin typeface="Times New Roman" panose="02020603050405020304" pitchFamily="18" charset="0"/>
                <a:cs typeface="Times New Roman" panose="02020603050405020304" pitchFamily="18" charset="0"/>
              </a:rPr>
              <a:t>[1] Holland, J. L., (1997) “Vocational Choice Theory” - </a:t>
            </a:r>
            <a:r>
              <a:rPr lang="en-GB" sz="2000" dirty="0">
                <a:solidFill>
                  <a:schemeClr val="tx1"/>
                </a:solidFill>
                <a:latin typeface="Times New Roman" panose="02020603050405020304" pitchFamily="18" charset="0"/>
                <a:cs typeface="Times New Roman" panose="02020603050405020304" pitchFamily="18" charset="0"/>
                <a:hlinkClick r:id="rId3"/>
              </a:rPr>
              <a:t>https://www.ebsco.com/research-starters/economics/hollands-theory-career-choice</a:t>
            </a:r>
            <a:endParaRPr lang="en-GB" sz="2000" dirty="0">
              <a:solidFill>
                <a:schemeClr val="tx1"/>
              </a:solidFill>
              <a:latin typeface="Times New Roman" panose="02020603050405020304" pitchFamily="18" charset="0"/>
              <a:cs typeface="Times New Roman" panose="02020603050405020304" pitchFamily="18" charset="0"/>
            </a:endParaRPr>
          </a:p>
          <a:p>
            <a:pPr marL="0" indent="0">
              <a:spcBef>
                <a:spcPct val="0"/>
              </a:spcBef>
              <a:buClrTx/>
              <a:buSzTx/>
              <a:buNone/>
            </a:pPr>
            <a:r>
              <a:rPr lang="en-GB" sz="2000" dirty="0">
                <a:solidFill>
                  <a:schemeClr val="tx1"/>
                </a:solidFill>
                <a:latin typeface="Times New Roman" panose="02020603050405020304" pitchFamily="18" charset="0"/>
                <a:cs typeface="Times New Roman" panose="02020603050405020304" pitchFamily="18" charset="0"/>
              </a:rPr>
              <a:t>[2] Ebenezer Babalola, Shatha Ghareeb, Jamila Mustafina, “</a:t>
            </a:r>
            <a:r>
              <a:rPr lang="en-GB" sz="2000" dirty="0">
                <a:latin typeface="Times New Roman" panose="02020603050405020304" pitchFamily="18" charset="0"/>
                <a:cs typeface="Times New Roman" panose="02020603050405020304" pitchFamily="18" charset="0"/>
              </a:rPr>
              <a:t>Online Job Search Application with Automatic Recommendation and Notification System” - </a:t>
            </a:r>
            <a:r>
              <a:rPr lang="en-GB" sz="2000" dirty="0">
                <a:latin typeface="Times New Roman" panose="02020603050405020304" pitchFamily="18" charset="0"/>
                <a:cs typeface="Times New Roman" panose="02020603050405020304" pitchFamily="18" charset="0"/>
                <a:hlinkClick r:id="rId4"/>
              </a:rPr>
              <a:t>https://ieeexplore.ieee.org/document/10911892</a:t>
            </a:r>
            <a:endParaRPr lang="en-GB" sz="2000" dirty="0">
              <a:latin typeface="Times New Roman" panose="02020603050405020304" pitchFamily="18" charset="0"/>
              <a:cs typeface="Times New Roman" panose="02020603050405020304" pitchFamily="18" charset="0"/>
            </a:endParaRPr>
          </a:p>
          <a:p>
            <a:pPr marL="0" indent="0">
              <a:spcBef>
                <a:spcPct val="0"/>
              </a:spcBef>
              <a:buClrTx/>
              <a:buSzTx/>
              <a:buNone/>
            </a:pPr>
            <a:r>
              <a:rPr lang="en-GB" sz="2000" dirty="0">
                <a:solidFill>
                  <a:schemeClr val="tx1"/>
                </a:solidFill>
                <a:latin typeface="Times New Roman" panose="02020603050405020304" pitchFamily="18" charset="0"/>
                <a:cs typeface="Times New Roman" panose="02020603050405020304" pitchFamily="18" charset="0"/>
              </a:rPr>
              <a:t>[3] Bigham et al. (2016), “Accessibility-Focused Computing” - </a:t>
            </a:r>
            <a:r>
              <a:rPr lang="en-GB" sz="2000" dirty="0">
                <a:solidFill>
                  <a:schemeClr val="tx1"/>
                </a:solidFill>
                <a:latin typeface="Times New Roman" panose="02020603050405020304" pitchFamily="18" charset="0"/>
                <a:cs typeface="Times New Roman" panose="02020603050405020304" pitchFamily="18" charset="0"/>
                <a:hlinkClick r:id="rId5"/>
              </a:rPr>
              <a:t>https://webinsight.cs.washington.edu/papers/dissertation/dissertation.pdf</a:t>
            </a:r>
            <a:endParaRPr lang="en-GB" sz="2000" dirty="0">
              <a:solidFill>
                <a:schemeClr val="tx1"/>
              </a:solidFill>
              <a:latin typeface="Times New Roman" panose="02020603050405020304" pitchFamily="18" charset="0"/>
              <a:cs typeface="Times New Roman" panose="02020603050405020304" pitchFamily="18" charset="0"/>
            </a:endParaRPr>
          </a:p>
          <a:p>
            <a:pPr marL="0" indent="0">
              <a:spcBef>
                <a:spcPct val="0"/>
              </a:spcBef>
              <a:buClrTx/>
              <a:buSzTx/>
              <a:buNone/>
            </a:pPr>
            <a:r>
              <a:rPr lang="en-GB" sz="2000" dirty="0">
                <a:solidFill>
                  <a:schemeClr val="tx1"/>
                </a:solidFill>
                <a:latin typeface="Times New Roman" panose="02020603050405020304" pitchFamily="18" charset="0"/>
                <a:cs typeface="Times New Roman" panose="02020603050405020304" pitchFamily="18" charset="0"/>
              </a:rPr>
              <a:t>[4] World Bank Disability Employment Report (2021) - </a:t>
            </a:r>
            <a:r>
              <a:rPr lang="en-GB" sz="2000" dirty="0">
                <a:solidFill>
                  <a:schemeClr val="tx1"/>
                </a:solidFill>
                <a:latin typeface="Times New Roman" panose="02020603050405020304" pitchFamily="18" charset="0"/>
                <a:cs typeface="Times New Roman" panose="02020603050405020304" pitchFamily="18" charset="0"/>
                <a:hlinkClick r:id="rId6"/>
              </a:rPr>
              <a:t>https://documents1.worldbank.org/curated/en/909561611117067647/pdf/The-State-of-Economic-Inclusion-Report-2021-The-Potential-to-Scale.pdf</a:t>
            </a:r>
            <a:endParaRPr lang="en-GB" sz="2000" dirty="0">
              <a:solidFill>
                <a:schemeClr val="tx1"/>
              </a:solidFill>
              <a:latin typeface="Times New Roman" panose="02020603050405020304" pitchFamily="18" charset="0"/>
              <a:cs typeface="Times New Roman" panose="02020603050405020304" pitchFamily="18" charset="0"/>
            </a:endParaRPr>
          </a:p>
          <a:p>
            <a:pPr marL="0" indent="0">
              <a:spcBef>
                <a:spcPct val="0"/>
              </a:spcBef>
              <a:buClrTx/>
              <a:buSzTx/>
              <a:buNone/>
            </a:pPr>
            <a:r>
              <a:rPr lang="en-GB" sz="2000" dirty="0">
                <a:solidFill>
                  <a:schemeClr val="tx1"/>
                </a:solidFill>
                <a:latin typeface="Times New Roman" panose="02020603050405020304" pitchFamily="18" charset="0"/>
                <a:cs typeface="Times New Roman" panose="02020603050405020304" pitchFamily="18" charset="0"/>
              </a:rPr>
              <a:t>[5] International Labour Organization Disability Inclusion Report (2022)</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
            <a:extLst>
              <a:ext uri="{FF2B5EF4-FFF2-40B4-BE49-F238E27FC236}">
                <a16:creationId xmlns:a16="http://schemas.microsoft.com/office/drawing/2014/main" id="{795D6BA3-C070-9A4D-C1FF-1573114FA81D}"/>
              </a:ext>
            </a:extLst>
          </p:cNvPr>
          <p:cNvSpPr>
            <a:spLocks noChangeArrowheads="1"/>
          </p:cNvSpPr>
          <p:nvPr/>
        </p:nvSpPr>
        <p:spPr bwMode="auto">
          <a:xfrm>
            <a:off x="0" y="2843733"/>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dirty="0">
                <a:solidFill>
                  <a:srgbClr val="000000"/>
                </a:solidFill>
                <a:latin typeface="Times New Roman" panose="02020603050405020304" pitchFamily="18" charset="0"/>
                <a:cs typeface="DejaVu Sans" charset="0"/>
              </a:rPr>
              <a:t>Thank You...!!</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1044</TotalTime>
  <Words>1608</Words>
  <Application>Microsoft Office PowerPoint</Application>
  <PresentationFormat>Custom</PresentationFormat>
  <Paragraphs>239</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Harsh Raulgaonkar</cp:lastModifiedBy>
  <cp:revision>69</cp:revision>
  <cp:lastPrinted>1601-01-01T00:00:00Z</cp:lastPrinted>
  <dcterms:created xsi:type="dcterms:W3CDTF">2017-10-25T08:22:14Z</dcterms:created>
  <dcterms:modified xsi:type="dcterms:W3CDTF">2026-02-13T06:47:22Z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